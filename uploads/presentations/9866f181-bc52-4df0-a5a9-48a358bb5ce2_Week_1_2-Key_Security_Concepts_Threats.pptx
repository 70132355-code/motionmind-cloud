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4"/>
  </p:notesMasterIdLst>
  <p:sldIdLst>
    <p:sldId id="256" r:id="rId3"/>
    <p:sldId id="34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41" r:id="rId15"/>
    <p:sldId id="342" r:id="rId16"/>
    <p:sldId id="269" r:id="rId17"/>
    <p:sldId id="270" r:id="rId18"/>
    <p:sldId id="290" r:id="rId19"/>
    <p:sldId id="287" r:id="rId20"/>
    <p:sldId id="291" r:id="rId21"/>
    <p:sldId id="292" r:id="rId22"/>
    <p:sldId id="293" r:id="rId23"/>
    <p:sldId id="288" r:id="rId24"/>
    <p:sldId id="294" r:id="rId25"/>
    <p:sldId id="295" r:id="rId26"/>
    <p:sldId id="296" r:id="rId27"/>
    <p:sldId id="289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9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339" r:id="rId45"/>
    <p:sldId id="308" r:id="rId46"/>
    <p:sldId id="309" r:id="rId47"/>
    <p:sldId id="355" r:id="rId48"/>
    <p:sldId id="333" r:id="rId49"/>
    <p:sldId id="310" r:id="rId50"/>
    <p:sldId id="338" r:id="rId51"/>
    <p:sldId id="340" r:id="rId52"/>
    <p:sldId id="354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9" autoAdjust="0"/>
    <p:restoredTop sz="94660"/>
  </p:normalViewPr>
  <p:slideViewPr>
    <p:cSldViewPr>
      <p:cViewPr varScale="1">
        <p:scale>
          <a:sx n="68" d="100"/>
          <a:sy n="68" d="100"/>
        </p:scale>
        <p:origin x="153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E78FE-00C9-4A58-BF46-4EDE42E8C1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2F278-6036-4BEA-8F07-CC54B3F9A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2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877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ABDC3AB-4022-4D2E-918D-BDDF4BDDCF80}" type="slidenum">
              <a:rPr lang="en-AU" smtClean="0"/>
              <a:pPr eaLnBrk="1" hangingPunct="1"/>
              <a:t>45</a:t>
            </a:fld>
            <a:endParaRPr lang="en-AU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76528A8-482F-4ED0-BD63-15ADB3EB1C4C}" type="slidenum">
              <a:rPr lang="en-AU" smtClean="0"/>
              <a:pPr eaLnBrk="1" hangingPunct="1"/>
              <a:t>48</a:t>
            </a:fld>
            <a:endParaRPr lang="en-AU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9BC7B0-2B08-E347-A0EA-F7E788F3AE61}" type="slidenum">
              <a:rPr lang="en-AU"/>
              <a:pPr/>
              <a:t>49</a:t>
            </a:fld>
            <a:endParaRPr lang="en-AU" dirty="0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itchFamily="-107" charset="0"/>
              </a:rPr>
              <a:t>Figure 1.2 [CCPS04a] shows the relationship among some terminology that will be useful throughout the book, drawn from RFC 2828, </a:t>
            </a:r>
            <a:r>
              <a:rPr lang="en-US" i="1" dirty="0">
                <a:latin typeface="Times New Roman" pitchFamily="-107" charset="0"/>
              </a:rPr>
              <a:t>Internet Security Glossary:</a:t>
            </a:r>
          </a:p>
          <a:p>
            <a:endParaRPr lang="en-US" i="1" dirty="0">
              <a:latin typeface="Times New Roman" pitchFamily="-107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145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109227718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800600" y="959825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2</a:t>
            </a:r>
          </a:p>
        </p:txBody>
      </p:sp>
    </p:spTree>
    <p:extLst>
      <p:ext uri="{BB962C8B-B14F-4D97-AF65-F5344CB8AC3E}">
        <p14:creationId xmlns:p14="http://schemas.microsoft.com/office/powerpoint/2010/main" val="320907174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2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1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2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9383"/>
      </p:ext>
    </p:extLst>
  </p:cSld>
  <p:clrMapOvr>
    <a:masterClrMapping/>
  </p:clrMapOvr>
  <p:transition spd="slow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592812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080146"/>
      </p:ext>
    </p:extLst>
  </p:cSld>
  <p:clrMapOvr>
    <a:masterClrMapping/>
  </p:clrMapOvr>
  <p:transition spd="slow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469362"/>
      </p:ext>
    </p:extLst>
  </p:cSld>
  <p:clrMapOvr>
    <a:masterClrMapping/>
  </p:clrMapOvr>
  <p:transition spd="slow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985139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0"/>
            <a:ext cx="5867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099601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494503"/>
      </p:ext>
    </p:extLst>
  </p:cSld>
  <p:clrMapOvr>
    <a:masterClrMapping/>
  </p:clrMapOvr>
  <p:transition spd="slow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172839"/>
      </p:ext>
    </p:extLst>
  </p:cSld>
  <p:clrMapOvr>
    <a:masterClrMapping/>
  </p:clrMapOvr>
  <p:transition spd="slow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2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2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2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148494"/>
      </p:ext>
    </p:extLst>
  </p:cSld>
  <p:clrMapOvr>
    <a:masterClrMapping/>
  </p:clrMapOvr>
  <p:transition spd="slow">
    <p:wipe dir="d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6255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2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9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>
    <p:wipe dir="d"/>
  </p:transition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00502" y="1828800"/>
            <a:ext cx="4025601" cy="762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Information Security </a:t>
            </a:r>
            <a:b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57" y="1500195"/>
            <a:ext cx="1607344" cy="1419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957" y="304803"/>
            <a:ext cx="1607344" cy="1419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131406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43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092 C 0.04036 -0.00092 0.40469 -0.00185 0.52695 -0.00254 C 0.64909 -0.00301 0.79466 0.00232 0.73294 -0.00509 C 0.67591 -0.03379 0.74687 0.03912 0.74687 -0.00023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83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00502" y="1828800"/>
            <a:ext cx="4025601" cy="762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Key Security Concepts </a:t>
            </a:r>
            <a:b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98641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to worry about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Trust</a:t>
            </a:r>
          </a:p>
          <a:p>
            <a:r>
              <a:rPr lang="en-US" dirty="0"/>
              <a:t>An extremely important security concept</a:t>
            </a:r>
          </a:p>
          <a:p>
            <a:pPr lvl="1"/>
            <a:r>
              <a:rPr lang="en-US" dirty="0"/>
              <a:t>You do certain things for those you trust</a:t>
            </a:r>
          </a:p>
          <a:p>
            <a:pPr lvl="1"/>
            <a:r>
              <a:rPr lang="en-US" dirty="0"/>
              <a:t>You don’t do them for those you don’t</a:t>
            </a:r>
          </a:p>
          <a:p>
            <a:r>
              <a:rPr lang="en-US" dirty="0"/>
              <a:t>Seems simple, ???</a:t>
            </a:r>
          </a:p>
          <a:p>
            <a:endParaRPr lang="en-US" dirty="0"/>
          </a:p>
          <a:p>
            <a:r>
              <a:rPr lang="en-US" dirty="0"/>
              <a:t>Problems with trust</a:t>
            </a:r>
          </a:p>
          <a:p>
            <a:pPr lvl="1"/>
            <a:r>
              <a:rPr lang="en-US" sz="2400" dirty="0"/>
              <a:t>How do you express trust?</a:t>
            </a:r>
          </a:p>
          <a:p>
            <a:pPr lvl="1"/>
            <a:r>
              <a:rPr lang="en-US" sz="2400" dirty="0"/>
              <a:t>Why do you trust something?</a:t>
            </a:r>
          </a:p>
          <a:p>
            <a:pPr lvl="1"/>
            <a:r>
              <a:rPr lang="en-US" sz="2400" dirty="0"/>
              <a:t>How can you be sure who you’re dealing with?</a:t>
            </a:r>
          </a:p>
          <a:p>
            <a:pPr lvl="1"/>
            <a:r>
              <a:rPr lang="en-US" sz="2400" dirty="0"/>
              <a:t>What if trust is situational?</a:t>
            </a:r>
          </a:p>
          <a:p>
            <a:pPr lvl="1"/>
            <a:r>
              <a:rPr lang="en-US" sz="2400" dirty="0"/>
              <a:t>What if trust changes?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0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to worry about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Symmetric Trust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2057400"/>
            <a:ext cx="1428750" cy="1200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950432"/>
            <a:ext cx="1447240" cy="1215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89805" y="1872734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Alice trusts </a:t>
            </a:r>
            <a:r>
              <a:rPr lang="en-US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8203" y="312420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69608" y="2375389"/>
            <a:ext cx="800100" cy="18288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 rot="10800000">
            <a:off x="3969608" y="2887876"/>
            <a:ext cx="800100" cy="18288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34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to worry about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Transitive Trust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1828800"/>
            <a:ext cx="1428750" cy="1200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1832322"/>
            <a:ext cx="1447240" cy="1215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6646" y="2693858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Alice trusts Bob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2162" y="3368331"/>
            <a:ext cx="1803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Bob trusts Carol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133" y="4953000"/>
            <a:ext cx="1981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Carol trusts David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181" y="4003303"/>
            <a:ext cx="1447240" cy="1215681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3951073" y="2337434"/>
            <a:ext cx="800100" cy="18288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 rot="5400000">
            <a:off x="6144551" y="3509989"/>
            <a:ext cx="603938" cy="13716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 rot="10800000">
            <a:off x="3906447" y="4644627"/>
            <a:ext cx="800100" cy="18288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 rot="5400000">
            <a:off x="1889965" y="3547403"/>
            <a:ext cx="603938" cy="13716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00300" y="3368331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561" y="4003302"/>
            <a:ext cx="1447240" cy="121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Security vs Absolute Access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It's very important to understand that in security, one simply cannot say ``what's the best firewall?'‘</a:t>
            </a:r>
          </a:p>
          <a:p>
            <a:endParaRPr lang="en-US" dirty="0"/>
          </a:p>
          <a:p>
            <a:r>
              <a:rPr lang="en-US" dirty="0"/>
              <a:t>There are two extremes: </a:t>
            </a:r>
            <a:r>
              <a:rPr lang="en-US" u="sng" dirty="0"/>
              <a:t>absolute security</a:t>
            </a:r>
            <a:r>
              <a:rPr lang="en-US" dirty="0"/>
              <a:t> and </a:t>
            </a:r>
            <a:r>
              <a:rPr lang="en-US" u="sng" dirty="0"/>
              <a:t>absolute access</a:t>
            </a:r>
          </a:p>
          <a:p>
            <a:endParaRPr lang="en-US" dirty="0"/>
          </a:p>
          <a:p>
            <a:r>
              <a:rPr lang="en-US" dirty="0"/>
              <a:t>The closest we can get to an </a:t>
            </a:r>
            <a:r>
              <a:rPr lang="en-US" u="sng" dirty="0"/>
              <a:t>absolutely secure</a:t>
            </a:r>
            <a:r>
              <a:rPr lang="en-US" dirty="0"/>
              <a:t> machine is one unplugged from the network, powered off, locked in a safe</a:t>
            </a:r>
          </a:p>
          <a:p>
            <a:r>
              <a:rPr lang="en-US" dirty="0"/>
              <a:t>Unfortunately, it isn't useful in this state</a:t>
            </a:r>
          </a:p>
        </p:txBody>
      </p:sp>
    </p:spTree>
    <p:extLst>
      <p:ext uri="{BB962C8B-B14F-4D97-AF65-F5344CB8AC3E}">
        <p14:creationId xmlns:p14="http://schemas.microsoft.com/office/powerpoint/2010/main" val="179712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Security vs Absolute Access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machine with </a:t>
            </a:r>
            <a:r>
              <a:rPr lang="en-US" u="sng" dirty="0"/>
              <a:t>absolute access</a:t>
            </a:r>
            <a:r>
              <a:rPr lang="en-US" dirty="0"/>
              <a:t> is extremely convenient to use: it's simply there, and will do whatever you tell it, without questions, authorization, passwords, or any other mechanism</a:t>
            </a:r>
          </a:p>
          <a:p>
            <a:r>
              <a:rPr lang="en-US" dirty="0"/>
              <a:t>Unfortunately, this isn't practical, either</a:t>
            </a:r>
          </a:p>
          <a:p>
            <a:endParaRPr lang="en-US" dirty="0"/>
          </a:p>
          <a:p>
            <a:r>
              <a:rPr lang="en-US" dirty="0"/>
              <a:t>The internet is a bad neighborhood now, and it isn't long before some bonehead will tell the computer to do something like self-destruct, after which, it isn't useful to you</a:t>
            </a:r>
          </a:p>
        </p:txBody>
      </p:sp>
    </p:spTree>
    <p:extLst>
      <p:ext uri="{BB962C8B-B14F-4D97-AF65-F5344CB8AC3E}">
        <p14:creationId xmlns:p14="http://schemas.microsoft.com/office/powerpoint/2010/main" val="203663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Security thus depends on </a:t>
            </a:r>
            <a:r>
              <a:rPr lang="en-US" u="sng" dirty="0"/>
              <a:t>the policies we define and the decisions we take</a:t>
            </a:r>
          </a:p>
          <a:p>
            <a:endParaRPr lang="en-US" dirty="0"/>
          </a:p>
          <a:p>
            <a:r>
              <a:rPr lang="en-US" dirty="0"/>
              <a:t>This is no different from our daily lives</a:t>
            </a:r>
          </a:p>
          <a:p>
            <a:r>
              <a:rPr lang="en-US" dirty="0"/>
              <a:t>We constantly make decisions about what risks we're willing to accept</a:t>
            </a:r>
          </a:p>
          <a:p>
            <a:endParaRPr lang="en-US" dirty="0"/>
          </a:p>
          <a:p>
            <a:r>
              <a:rPr lang="en-US" dirty="0"/>
              <a:t>When we get in a car and drive to work, there's a certain risk that we're taking</a:t>
            </a:r>
          </a:p>
          <a:p>
            <a:r>
              <a:rPr lang="en-US" dirty="0"/>
              <a:t>It's possible that something completely out of control will cause us to become part of an accident on the highway</a:t>
            </a:r>
          </a:p>
          <a:p>
            <a:r>
              <a:rPr lang="en-US" dirty="0"/>
              <a:t>When we get on an airplane, we're accepting the level of risk involved as the price of convenience</a:t>
            </a:r>
          </a:p>
        </p:txBody>
      </p:sp>
    </p:spTree>
    <p:extLst>
      <p:ext uri="{BB962C8B-B14F-4D97-AF65-F5344CB8AC3E}">
        <p14:creationId xmlns:p14="http://schemas.microsoft.com/office/powerpoint/2010/main" val="273404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we have a mental picture of what an acceptable risk is, and won't go beyond that in most circumstances</a:t>
            </a:r>
          </a:p>
          <a:p>
            <a:endParaRPr lang="en-US" dirty="0"/>
          </a:p>
          <a:p>
            <a:r>
              <a:rPr lang="en-US" dirty="0"/>
              <a:t>If I happen to be upstairs at home, and want to leave for work, I'm not going to jump out the window</a:t>
            </a:r>
          </a:p>
          <a:p>
            <a:pPr lvl="1"/>
            <a:r>
              <a:rPr lang="en-US" dirty="0"/>
              <a:t>Yes, it would be more convenient, but the risk of injury outweighs the advantage of convenience</a:t>
            </a:r>
          </a:p>
        </p:txBody>
      </p:sp>
    </p:spTree>
    <p:extLst>
      <p:ext uri="{BB962C8B-B14F-4D97-AF65-F5344CB8AC3E}">
        <p14:creationId xmlns:p14="http://schemas.microsoft.com/office/powerpoint/2010/main" val="366406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organization needs to decide for itself where between the two extremes of total security and total access they need to be</a:t>
            </a:r>
          </a:p>
          <a:p>
            <a:r>
              <a:rPr lang="en-US" dirty="0"/>
              <a:t>A policy needs to articulate this, and then define how that will be enforced with practices and such</a:t>
            </a:r>
          </a:p>
          <a:p>
            <a:r>
              <a:rPr lang="en-US" dirty="0"/>
              <a:t>Everything that is done in the name of security, then, must enforce that policy uniformly</a:t>
            </a:r>
          </a:p>
        </p:txBody>
      </p:sp>
    </p:spTree>
    <p:extLst>
      <p:ext uri="{BB962C8B-B14F-4D97-AF65-F5344CB8AC3E}">
        <p14:creationId xmlns:p14="http://schemas.microsoft.com/office/powerpoint/2010/main" val="90603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benefit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database that provides salary information to a second system that print checks.</a:t>
            </a:r>
          </a:p>
          <a:p>
            <a:pPr lvl="1"/>
            <a:r>
              <a:rPr lang="en-US" dirty="0"/>
              <a:t>Huge financial loss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 company has several branch offices and each downloads the database copy daily. </a:t>
            </a:r>
          </a:p>
          <a:p>
            <a:pPr lvl="1"/>
            <a:r>
              <a:rPr lang="en-US" dirty="0"/>
              <a:t>The branch office uses the database to recommend the salary, but the main office use the original database for the final calculations.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Recoverable !</a:t>
            </a:r>
          </a:p>
        </p:txBody>
      </p:sp>
    </p:spTree>
    <p:extLst>
      <p:ext uri="{BB962C8B-B14F-4D97-AF65-F5344CB8AC3E}">
        <p14:creationId xmlns:p14="http://schemas.microsoft.com/office/powerpoint/2010/main" val="99340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Rational Thinking 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Consider a company where 10000 documents are processed per month with no security mechanism. </a:t>
            </a:r>
          </a:p>
          <a:p>
            <a:r>
              <a:rPr lang="en-US" dirty="0"/>
              <a:t>Security breaches occur about twice per month, and almost 100 documents are compromised per breach. The administrator needs to restart the processing of the breached documents.</a:t>
            </a:r>
          </a:p>
          <a:p>
            <a:r>
              <a:rPr lang="en-US" dirty="0"/>
              <a:t>Each document’s processing is worth about $20, and the documents compromised tend to be about half processed when they are restarted. </a:t>
            </a:r>
          </a:p>
          <a:p>
            <a:r>
              <a:rPr lang="en-US" dirty="0"/>
              <a:t>If some security mechanism is installed, it will increase the average processing cost by about 1% for all the documents. </a:t>
            </a:r>
          </a:p>
          <a:p>
            <a:endParaRPr lang="en-US" dirty="0"/>
          </a:p>
          <a:p>
            <a:r>
              <a:rPr lang="en-US" dirty="0"/>
              <a:t>Should the company install a security mechanism?</a:t>
            </a:r>
          </a:p>
        </p:txBody>
      </p:sp>
    </p:spTree>
    <p:extLst>
      <p:ext uri="{BB962C8B-B14F-4D97-AF65-F5344CB8AC3E}">
        <p14:creationId xmlns:p14="http://schemas.microsoft.com/office/powerpoint/2010/main" val="273016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Rational Thinking 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Without Security Mechanism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processed per month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10,000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breaches per month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compromised per breach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compromised docs per month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× 100 =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compromised document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processed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 cost lost =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document.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per month from breaches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200 × $10 =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$2,000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extra cost without security =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$2,000 per month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With Security Mechanism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document processing cost = $20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increases cost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$20 × 0.01 =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$0.20 extra per document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cost for 10,000 docs = 10,000 × $0.20 =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$2,000 per month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extra cost with security =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$2,000 per month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32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FEA0-4124-4DDC-9413-1E75E0104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Con.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D73AC-B772-4A1B-A0C7-576998BB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199"/>
            <a:ext cx="8382000" cy="5486401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security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$2,000 loss per month (due to breaches)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security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$2,000 loss per month (due to overhead)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the direct costs are equal, installing the security mechanism is the better choice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operational risks and prevents breaches from escalating.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information and avoids reputation damage.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regulatory compliance and customer trust.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Yes, the company should install a security mechanism.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4643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Security Goals (the CIA triad)</a:t>
            </a:r>
          </a:p>
          <a:p>
            <a:endParaRPr lang="en-US" dirty="0"/>
          </a:p>
          <a:p>
            <a:r>
              <a:rPr lang="en-US" dirty="0"/>
              <a:t>Confidentiality</a:t>
            </a:r>
          </a:p>
          <a:p>
            <a:r>
              <a:rPr lang="en-US" dirty="0"/>
              <a:t>Integrity</a:t>
            </a:r>
          </a:p>
          <a:p>
            <a:r>
              <a:rPr lang="en-US" dirty="0"/>
              <a:t>Availability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84" y="2057400"/>
            <a:ext cx="333326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9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Confidentiality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only sender, intended receiver should “understand” message contents</a:t>
            </a:r>
          </a:p>
          <a:p>
            <a:r>
              <a:rPr lang="en-US" dirty="0"/>
              <a:t>Covers both data confidentiality and privacy</a:t>
            </a:r>
          </a:p>
          <a:p>
            <a:pPr lvl="1"/>
            <a:r>
              <a:rPr lang="en-US" b="1" dirty="0"/>
              <a:t>Data confidentiality</a:t>
            </a:r>
          </a:p>
          <a:p>
            <a:pPr lvl="1"/>
            <a:r>
              <a:rPr lang="en-US" dirty="0"/>
              <a:t>Assures that confidential information is not disclosed to unauthorized individuals.</a:t>
            </a:r>
          </a:p>
          <a:p>
            <a:pPr lvl="1"/>
            <a:r>
              <a:rPr lang="en-US" b="1" dirty="0"/>
              <a:t>Privacy</a:t>
            </a:r>
          </a:p>
          <a:p>
            <a:pPr lvl="1"/>
            <a:r>
              <a:rPr lang="en-US" dirty="0"/>
              <a:t>Assures that individuals control the information related to them </a:t>
            </a:r>
          </a:p>
          <a:p>
            <a:pPr lvl="2"/>
            <a:r>
              <a:rPr lang="en-US" dirty="0"/>
              <a:t>What may be collected and stored</a:t>
            </a:r>
          </a:p>
          <a:p>
            <a:pPr lvl="2"/>
            <a:r>
              <a:rPr lang="en-US" dirty="0"/>
              <a:t>by whom</a:t>
            </a:r>
          </a:p>
          <a:p>
            <a:pPr lvl="2"/>
            <a:r>
              <a:rPr lang="en-US" dirty="0"/>
              <a:t>To whom that information may be disclosed.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2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Confidentiality</a:t>
            </a:r>
            <a:r>
              <a:rPr lang="en-US" dirty="0"/>
              <a:t>: </a:t>
            </a:r>
          </a:p>
          <a:p>
            <a:r>
              <a:rPr lang="en-US" dirty="0"/>
              <a:t>Student grade information is an asset whose confidentiality is considered to be highly important by students. </a:t>
            </a:r>
          </a:p>
          <a:p>
            <a:r>
              <a:rPr lang="en-US" dirty="0"/>
              <a:t>United States – Family Educational Rights and Privacy Act (FERPA) </a:t>
            </a:r>
          </a:p>
          <a:p>
            <a:pPr lvl="1"/>
            <a:r>
              <a:rPr lang="en-US" dirty="0"/>
              <a:t>Grade information (high rating)</a:t>
            </a:r>
          </a:p>
          <a:p>
            <a:pPr lvl="2"/>
            <a:r>
              <a:rPr lang="en-US" dirty="0"/>
              <a:t>Available to students, their parents, and employees that require the information to do their job. </a:t>
            </a:r>
          </a:p>
          <a:p>
            <a:pPr lvl="1"/>
            <a:r>
              <a:rPr lang="en-US" dirty="0"/>
              <a:t>Student enrollment information (moderate rating) </a:t>
            </a:r>
          </a:p>
          <a:p>
            <a:pPr lvl="2"/>
            <a:r>
              <a:rPr lang="en-US" dirty="0"/>
              <a:t>Less likely to be targeted than grade information, and </a:t>
            </a:r>
          </a:p>
          <a:p>
            <a:pPr lvl="2"/>
            <a:r>
              <a:rPr lang="en-US" dirty="0"/>
              <a:t>Results in less damage if disclosed. </a:t>
            </a:r>
          </a:p>
          <a:p>
            <a:pPr lvl="1"/>
            <a:r>
              <a:rPr lang="en-US" dirty="0"/>
              <a:t>Directory information (lists of students/faculty) (low rating) </a:t>
            </a:r>
          </a:p>
          <a:p>
            <a:pPr lvl="1"/>
            <a:r>
              <a:rPr lang="en-US" dirty="0"/>
              <a:t>Typically freely available to the public and published on a school’s Web site.</a:t>
            </a:r>
          </a:p>
        </p:txBody>
      </p:sp>
    </p:spTree>
    <p:extLst>
      <p:ext uri="{BB962C8B-B14F-4D97-AF65-F5344CB8AC3E}">
        <p14:creationId xmlns:p14="http://schemas.microsoft.com/office/powerpoint/2010/main" val="354809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Integrity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Sender, receiver want to ensure message not altered (in transit, or afterwards) without detection, </a:t>
            </a:r>
          </a:p>
          <a:p>
            <a:pPr lvl="1"/>
            <a:r>
              <a:rPr lang="en-US" dirty="0"/>
              <a:t>and want to be able to prove that the sender did, in fact, send the message</a:t>
            </a:r>
          </a:p>
          <a:p>
            <a:pPr lvl="1"/>
            <a:r>
              <a:rPr lang="en-US" dirty="0"/>
              <a:t>covers both data and system integrity</a:t>
            </a:r>
          </a:p>
          <a:p>
            <a:pPr lvl="1"/>
            <a:r>
              <a:rPr lang="en-US" b="1" dirty="0"/>
              <a:t>Data integrity</a:t>
            </a:r>
          </a:p>
          <a:p>
            <a:pPr lvl="1"/>
            <a:r>
              <a:rPr lang="en-US" dirty="0"/>
              <a:t>Assures that information and programs are changed only in a specified and authorized manner.</a:t>
            </a:r>
          </a:p>
          <a:p>
            <a:pPr lvl="1"/>
            <a:r>
              <a:rPr lang="en-US" b="1" dirty="0"/>
              <a:t>System integrity</a:t>
            </a:r>
          </a:p>
          <a:p>
            <a:pPr lvl="1"/>
            <a:r>
              <a:rPr lang="en-US" dirty="0"/>
              <a:t>Assures that a system performs its intended function in an unimpaired (perfect) manner, </a:t>
            </a:r>
          </a:p>
          <a:p>
            <a:pPr lvl="1"/>
            <a:r>
              <a:rPr lang="en-US" dirty="0"/>
              <a:t>free from deliberate or unauthorized manipulation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260743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Integrity</a:t>
            </a:r>
            <a:r>
              <a:rPr lang="en-US" dirty="0"/>
              <a:t>: </a:t>
            </a:r>
          </a:p>
          <a:p>
            <a:r>
              <a:rPr lang="en-US" dirty="0"/>
              <a:t>Hospital patient’s allergy information database</a:t>
            </a:r>
          </a:p>
          <a:p>
            <a:pPr lvl="1"/>
            <a:r>
              <a:rPr lang="en-US" dirty="0"/>
              <a:t>High requirement for integrity. </a:t>
            </a:r>
          </a:p>
          <a:p>
            <a:pPr lvl="1"/>
            <a:r>
              <a:rPr lang="en-US" dirty="0"/>
              <a:t>The doctor should be able to trust that the information is correct and current. </a:t>
            </a:r>
          </a:p>
          <a:p>
            <a:pPr lvl="1"/>
            <a:r>
              <a:rPr lang="en-US" dirty="0"/>
              <a:t>Inaccurate information could result in serious harm or death to a patient and expose the hospital/doctor to massive liability.</a:t>
            </a:r>
          </a:p>
          <a:p>
            <a:r>
              <a:rPr lang="en-US" dirty="0"/>
              <a:t>If an employee (e.g., a nurse) authorized to view/update this information deliberately falsifies the data to cause harm to the hospital/patient/doctor. </a:t>
            </a:r>
          </a:p>
          <a:p>
            <a:pPr lvl="1"/>
            <a:r>
              <a:rPr lang="en-US" dirty="0"/>
              <a:t>The database needs to be restored to a trusted basis quickly</a:t>
            </a:r>
          </a:p>
          <a:p>
            <a:pPr lvl="1"/>
            <a:r>
              <a:rPr lang="en-US" dirty="0"/>
              <a:t>it should be possible to trace the error back to the person responsible. </a:t>
            </a:r>
          </a:p>
        </p:txBody>
      </p:sp>
    </p:spTree>
    <p:extLst>
      <p:ext uri="{BB962C8B-B14F-4D97-AF65-F5344CB8AC3E}">
        <p14:creationId xmlns:p14="http://schemas.microsoft.com/office/powerpoint/2010/main" val="310897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Integrity</a:t>
            </a:r>
            <a:r>
              <a:rPr lang="en-US" dirty="0"/>
              <a:t>: </a:t>
            </a:r>
          </a:p>
          <a:p>
            <a:r>
              <a:rPr lang="en-US" dirty="0"/>
              <a:t>Web site that offers a forum to registered users to discuss some specific topic </a:t>
            </a:r>
          </a:p>
          <a:p>
            <a:pPr lvl="1"/>
            <a:r>
              <a:rPr lang="en-US" dirty="0"/>
              <a:t>Moderate level of integrity </a:t>
            </a:r>
          </a:p>
          <a:p>
            <a:pPr lvl="1"/>
            <a:r>
              <a:rPr lang="en-US" dirty="0"/>
              <a:t>Either a registered user or a hacker could falsify some entries or deface the Web site. </a:t>
            </a:r>
          </a:p>
          <a:p>
            <a:pPr lvl="1"/>
            <a:r>
              <a:rPr lang="en-US" dirty="0"/>
              <a:t>If the forum exists only for the enjoyment of the users, </a:t>
            </a:r>
          </a:p>
          <a:p>
            <a:pPr lvl="1"/>
            <a:r>
              <a:rPr lang="en-US" dirty="0"/>
              <a:t>brings in little or no advertising revenue, </a:t>
            </a:r>
          </a:p>
          <a:p>
            <a:pPr lvl="1"/>
            <a:r>
              <a:rPr lang="en-US" dirty="0"/>
              <a:t>and is not used for something important such as research, </a:t>
            </a:r>
          </a:p>
          <a:p>
            <a:pPr lvl="1"/>
            <a:r>
              <a:rPr lang="en-US" dirty="0"/>
              <a:t>then potential damage is not severe. </a:t>
            </a:r>
          </a:p>
          <a:p>
            <a:pPr lvl="1"/>
            <a:r>
              <a:rPr lang="en-US" dirty="0"/>
              <a:t>The Web master may experience some data, financial, and time loss.</a:t>
            </a:r>
          </a:p>
        </p:txBody>
      </p:sp>
    </p:spTree>
    <p:extLst>
      <p:ext uri="{BB962C8B-B14F-4D97-AF65-F5344CB8AC3E}">
        <p14:creationId xmlns:p14="http://schemas.microsoft.com/office/powerpoint/2010/main" val="62581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Integrity</a:t>
            </a:r>
            <a:r>
              <a:rPr lang="en-US" dirty="0"/>
              <a:t>: </a:t>
            </a:r>
          </a:p>
          <a:p>
            <a:r>
              <a:rPr lang="en-US" dirty="0"/>
              <a:t>An anonymous online poll </a:t>
            </a:r>
          </a:p>
          <a:p>
            <a:pPr lvl="1"/>
            <a:r>
              <a:rPr lang="en-US" dirty="0"/>
              <a:t>Low integrity requirement</a:t>
            </a:r>
          </a:p>
          <a:p>
            <a:pPr lvl="1"/>
            <a:r>
              <a:rPr lang="en-US" dirty="0"/>
              <a:t>Many Web sites, such as news organizations, offer these polls to their users with very few safeguards. </a:t>
            </a:r>
          </a:p>
          <a:p>
            <a:pPr lvl="1"/>
            <a:r>
              <a:rPr lang="en-US" dirty="0"/>
              <a:t>However, the inaccuracy and unscientific nature of such polls is well understood.</a:t>
            </a:r>
          </a:p>
        </p:txBody>
      </p:sp>
    </p:spTree>
    <p:extLst>
      <p:ext uri="{BB962C8B-B14F-4D97-AF65-F5344CB8AC3E}">
        <p14:creationId xmlns:p14="http://schemas.microsoft.com/office/powerpoint/2010/main" val="315548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Availability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Services must be accessible and available to properly authorized users</a:t>
            </a:r>
          </a:p>
          <a:p>
            <a:pPr lvl="1"/>
            <a:r>
              <a:rPr lang="en-US" dirty="0"/>
              <a:t>Ensuring timely and reliable access to and use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22234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Availability</a:t>
            </a:r>
            <a:r>
              <a:rPr lang="en-US" dirty="0"/>
              <a:t>: </a:t>
            </a:r>
          </a:p>
          <a:p>
            <a:r>
              <a:rPr lang="en-US" dirty="0"/>
              <a:t>The more critical a component or service, the higher is the level of availability required. </a:t>
            </a:r>
          </a:p>
          <a:p>
            <a:pPr lvl="1"/>
            <a:r>
              <a:rPr lang="en-US" dirty="0"/>
              <a:t>Consider a system that provides authentication services for critical systems, applications, and devices. </a:t>
            </a:r>
          </a:p>
          <a:p>
            <a:pPr lvl="1"/>
            <a:r>
              <a:rPr lang="en-US" dirty="0"/>
              <a:t>An interruption of service results in the inability for customers to access computing resources and staff to access the resources they need to perform critical tasks. </a:t>
            </a:r>
          </a:p>
          <a:p>
            <a:pPr lvl="1"/>
            <a:r>
              <a:rPr lang="en-US" dirty="0"/>
              <a:t>The loss of the service translates into a large financial loss in lost employee productivity and potential customer loss.</a:t>
            </a:r>
          </a:p>
          <a:p>
            <a:pPr lvl="1"/>
            <a:r>
              <a:rPr lang="en-US" dirty="0"/>
              <a:t>Facebook losses $ 24, 420 per minute, if it goes down.</a:t>
            </a:r>
          </a:p>
        </p:txBody>
      </p:sp>
    </p:spTree>
    <p:extLst>
      <p:ext uri="{BB962C8B-B14F-4D97-AF65-F5344CB8AC3E}">
        <p14:creationId xmlns:p14="http://schemas.microsoft.com/office/powerpoint/2010/main" val="223694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Availability</a:t>
            </a:r>
            <a:r>
              <a:rPr lang="en-US" dirty="0"/>
              <a:t>: </a:t>
            </a:r>
          </a:p>
          <a:p>
            <a:r>
              <a:rPr lang="en-US" dirty="0"/>
              <a:t>Public Web site for a university</a:t>
            </a:r>
          </a:p>
          <a:p>
            <a:pPr lvl="1"/>
            <a:r>
              <a:rPr lang="en-US" dirty="0"/>
              <a:t>moderate availability requirement</a:t>
            </a:r>
          </a:p>
          <a:p>
            <a:pPr lvl="1"/>
            <a:r>
              <a:rPr lang="en-US" dirty="0"/>
              <a:t>The Web site provides information for current and prospective students and donors. </a:t>
            </a:r>
          </a:p>
          <a:p>
            <a:pPr lvl="1"/>
            <a:r>
              <a:rPr lang="en-US" dirty="0"/>
              <a:t>Such a site is not a critical component of the university’s information system, but its unavailability will cause some embarrassment.</a:t>
            </a:r>
          </a:p>
        </p:txBody>
      </p:sp>
    </p:spTree>
    <p:extLst>
      <p:ext uri="{BB962C8B-B14F-4D97-AF65-F5344CB8AC3E}">
        <p14:creationId xmlns:p14="http://schemas.microsoft.com/office/powerpoint/2010/main" val="175793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Availability</a:t>
            </a:r>
            <a:r>
              <a:rPr lang="en-US" dirty="0"/>
              <a:t>: </a:t>
            </a:r>
          </a:p>
          <a:p>
            <a:r>
              <a:rPr lang="en-US" dirty="0"/>
              <a:t>An online telephone directory lookup application </a:t>
            </a:r>
          </a:p>
          <a:p>
            <a:pPr lvl="1"/>
            <a:r>
              <a:rPr lang="en-US" dirty="0"/>
              <a:t>low availability requirement</a:t>
            </a:r>
          </a:p>
          <a:p>
            <a:pPr lvl="1"/>
            <a:r>
              <a:rPr lang="en-US" dirty="0"/>
              <a:t>Although the temporary loss of the application may be an annoyance, </a:t>
            </a:r>
          </a:p>
          <a:p>
            <a:pPr lvl="1"/>
            <a:r>
              <a:rPr lang="en-US" dirty="0"/>
              <a:t>there are other ways to access the information, such as a hardcopy directory or the operator.</a:t>
            </a:r>
          </a:p>
        </p:txBody>
      </p:sp>
    </p:spTree>
    <p:extLst>
      <p:ext uri="{BB962C8B-B14F-4D97-AF65-F5344CB8AC3E}">
        <p14:creationId xmlns:p14="http://schemas.microsoft.com/office/powerpoint/2010/main" val="178437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additional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Authenticity: </a:t>
            </a:r>
          </a:p>
          <a:p>
            <a:pPr lvl="1"/>
            <a:r>
              <a:rPr lang="en-US" dirty="0"/>
              <a:t>The property of being genuine and being able to be verified and trusted; </a:t>
            </a:r>
          </a:p>
          <a:p>
            <a:pPr lvl="1"/>
            <a:r>
              <a:rPr lang="en-US" dirty="0"/>
              <a:t>Confidence in the validity of a transmission, a message, or message originator. </a:t>
            </a:r>
          </a:p>
          <a:p>
            <a:pPr lvl="1"/>
            <a:r>
              <a:rPr lang="en-US" dirty="0"/>
              <a:t>This means verifying that users are who they say they are and that each input arriving at the system came from a trusted source.</a:t>
            </a:r>
          </a:p>
          <a:p>
            <a:r>
              <a:rPr lang="en-US" b="1" dirty="0"/>
              <a:t>Accountability: </a:t>
            </a:r>
          </a:p>
          <a:p>
            <a:pPr lvl="1"/>
            <a:r>
              <a:rPr lang="en-US" dirty="0"/>
              <a:t>Actions of an entity should be traced uniquely to that entity. </a:t>
            </a:r>
          </a:p>
          <a:p>
            <a:pPr lvl="1"/>
            <a:r>
              <a:rPr lang="en-US" dirty="0"/>
              <a:t>This supports nonrepudiation, fault isolation, intrusion detection and prevention, and after-action recovery and legal action. </a:t>
            </a:r>
          </a:p>
          <a:p>
            <a:r>
              <a:rPr lang="en-US" dirty="0"/>
              <a:t>Secure systems are not yet an achievable goal, we must be able to trace a security breach to a responsible party. </a:t>
            </a:r>
          </a:p>
        </p:txBody>
      </p:sp>
    </p:spTree>
    <p:extLst>
      <p:ext uri="{BB962C8B-B14F-4D97-AF65-F5344CB8AC3E}">
        <p14:creationId xmlns:p14="http://schemas.microsoft.com/office/powerpoint/2010/main" val="410618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Types of Attacks</a:t>
            </a:r>
          </a:p>
          <a:p>
            <a:pPr marL="0" indent="0">
              <a:buNone/>
            </a:pPr>
            <a:r>
              <a:rPr lang="en-US" b="1" dirty="0"/>
              <a:t>Passive Attack</a:t>
            </a:r>
          </a:p>
          <a:p>
            <a:pPr lvl="1"/>
            <a:r>
              <a:rPr lang="en-US" dirty="0"/>
              <a:t>Make use of information, but not affect system resources, e.g.</a:t>
            </a:r>
          </a:p>
          <a:p>
            <a:pPr lvl="2"/>
            <a:r>
              <a:rPr lang="en-US" dirty="0"/>
              <a:t>Release message contents</a:t>
            </a:r>
          </a:p>
          <a:p>
            <a:pPr lvl="2"/>
            <a:r>
              <a:rPr lang="en-US" dirty="0"/>
              <a:t>Traffic analysis</a:t>
            </a:r>
          </a:p>
          <a:p>
            <a:pPr lvl="1"/>
            <a:r>
              <a:rPr lang="en-US" u="sng" dirty="0"/>
              <a:t>Relatively hard to detect, but easier to prevent</a:t>
            </a:r>
          </a:p>
          <a:p>
            <a:pPr marL="0" indent="0">
              <a:buNone/>
            </a:pPr>
            <a:r>
              <a:rPr lang="en-US" b="1" dirty="0"/>
              <a:t>Active Attack</a:t>
            </a:r>
          </a:p>
          <a:p>
            <a:pPr lvl="1"/>
            <a:r>
              <a:rPr lang="en-US" dirty="0"/>
              <a:t>Alter system resources or operation, e.g.</a:t>
            </a:r>
          </a:p>
          <a:p>
            <a:pPr lvl="2"/>
            <a:r>
              <a:rPr lang="en-US" dirty="0"/>
              <a:t>Masquerade</a:t>
            </a:r>
          </a:p>
          <a:p>
            <a:pPr lvl="2"/>
            <a:r>
              <a:rPr lang="en-US" dirty="0"/>
              <a:t>Replay</a:t>
            </a:r>
          </a:p>
          <a:p>
            <a:pPr lvl="2"/>
            <a:r>
              <a:rPr lang="en-US" dirty="0"/>
              <a:t>Modification</a:t>
            </a:r>
          </a:p>
          <a:p>
            <a:pPr lvl="2"/>
            <a:r>
              <a:rPr lang="en-US" dirty="0"/>
              <a:t>Denial of service</a:t>
            </a:r>
          </a:p>
          <a:p>
            <a:pPr lvl="1"/>
            <a:r>
              <a:rPr lang="en-US" u="sng" dirty="0"/>
              <a:t>Relatively hard to prevent, but easier to detect</a:t>
            </a:r>
          </a:p>
        </p:txBody>
      </p:sp>
    </p:spTree>
    <p:extLst>
      <p:ext uri="{BB962C8B-B14F-4D97-AF65-F5344CB8AC3E}">
        <p14:creationId xmlns:p14="http://schemas.microsoft.com/office/powerpoint/2010/main" val="167326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Release message contents – Passive Attack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981200"/>
            <a:ext cx="57150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20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Traffic analysis – Passive Attack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0320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32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Masquerade – </a:t>
            </a:r>
            <a:r>
              <a:rPr lang="en-US" u="sng"/>
              <a:t>Active Attack</a:t>
            </a: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0320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37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Replay – Active Attack</a:t>
            </a:r>
          </a:p>
          <a:p>
            <a:pPr marL="0" indent="0">
              <a:buNone/>
            </a:pP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9812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3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Modification – Active Attack</a:t>
            </a:r>
          </a:p>
          <a:p>
            <a:pPr marL="0" indent="0">
              <a:buNone/>
            </a:pP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9812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8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Denial of service – Active Attack</a:t>
            </a:r>
          </a:p>
          <a:p>
            <a:pPr marL="0" indent="0">
              <a:buNone/>
            </a:pP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9812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3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Attacks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446" y="1828800"/>
            <a:ext cx="9187446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178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Security Services</a:t>
            </a:r>
          </a:p>
          <a:p>
            <a:r>
              <a:rPr lang="en-US" b="1" dirty="0"/>
              <a:t>Authentication</a:t>
            </a:r>
            <a:r>
              <a:rPr lang="en-US" dirty="0"/>
              <a:t> assure that the communicating entity is the one that it claims to be</a:t>
            </a:r>
          </a:p>
          <a:p>
            <a:r>
              <a:rPr lang="en-US" b="1" dirty="0"/>
              <a:t>Access Control</a:t>
            </a:r>
            <a:r>
              <a:rPr lang="en-US" dirty="0"/>
              <a:t> prevent unauthorized use of a resource</a:t>
            </a:r>
          </a:p>
          <a:p>
            <a:r>
              <a:rPr lang="en-US" b="1" dirty="0"/>
              <a:t>Data Confidentiality</a:t>
            </a:r>
            <a:r>
              <a:rPr lang="en-US" dirty="0"/>
              <a:t> protect data from unauthorized disclosure</a:t>
            </a:r>
          </a:p>
          <a:p>
            <a:r>
              <a:rPr lang="en-US" b="1" dirty="0"/>
              <a:t>Data Integrity</a:t>
            </a:r>
            <a:r>
              <a:rPr lang="en-US" dirty="0"/>
              <a:t> assure data received are exactly as sent by authorized entity</a:t>
            </a:r>
          </a:p>
          <a:p>
            <a:r>
              <a:rPr lang="en-US" b="1" dirty="0"/>
              <a:t>Nonrepudiation</a:t>
            </a:r>
            <a:r>
              <a:rPr lang="en-US" dirty="0"/>
              <a:t> protect against denial of one entity involved in communications of having participated in communications</a:t>
            </a:r>
          </a:p>
          <a:p>
            <a:r>
              <a:rPr lang="en-US" b="1" dirty="0"/>
              <a:t>Availability</a:t>
            </a:r>
            <a:r>
              <a:rPr lang="en-US" dirty="0"/>
              <a:t> system is accessible and usable on demand by authorized users according to intended goal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99332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Alice</a:t>
            </a:r>
            <a:r>
              <a:rPr lang="en-US" dirty="0"/>
              <a:t> and </a:t>
            </a:r>
            <a:r>
              <a:rPr lang="en-US" b="1" u="sng" dirty="0"/>
              <a:t>Bob</a:t>
            </a:r>
            <a:r>
              <a:rPr lang="en-US" dirty="0"/>
              <a:t> are the two most famous persons in network security</a:t>
            </a:r>
          </a:p>
          <a:p>
            <a:r>
              <a:rPr lang="en-US" dirty="0"/>
              <a:t>They are used everywhere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r>
              <a:rPr lang="en-US" dirty="0"/>
              <a:t>Alice and Bob want to communicate “securely”</a:t>
            </a:r>
          </a:p>
          <a:p>
            <a:r>
              <a:rPr lang="en-US" dirty="0"/>
              <a:t>Trudy (intruder) may interrupt, intercept, modify, fabricate and so on, to disrupt their communications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17" y="2286000"/>
            <a:ext cx="892834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1" y="2286000"/>
            <a:ext cx="843197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828" y="2286000"/>
            <a:ext cx="699773" cy="275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6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Who might Alice and Bob be?</a:t>
            </a:r>
          </a:p>
          <a:p>
            <a:endParaRPr lang="en-US" dirty="0"/>
          </a:p>
          <a:p>
            <a:r>
              <a:rPr lang="en-US" dirty="0"/>
              <a:t>Well, real-life Alice(s) and Bob(s)!</a:t>
            </a:r>
          </a:p>
          <a:p>
            <a:r>
              <a:rPr lang="en-US" dirty="0"/>
              <a:t>Web browser/server for electronic transactions (e.g., on-line purchases)</a:t>
            </a:r>
          </a:p>
          <a:p>
            <a:r>
              <a:rPr lang="en-US" dirty="0"/>
              <a:t>On-line banking client/server</a:t>
            </a:r>
          </a:p>
          <a:p>
            <a:r>
              <a:rPr lang="en-US" dirty="0"/>
              <a:t>DNS servers</a:t>
            </a:r>
          </a:p>
          <a:p>
            <a:r>
              <a:rPr lang="en-US" dirty="0"/>
              <a:t>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32597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Question: What could Trudy do in this case?</a:t>
            </a:r>
          </a:p>
          <a:p>
            <a:pPr marL="0" indent="0">
              <a:buNone/>
            </a:pPr>
            <a:r>
              <a:rPr lang="en-US" dirty="0"/>
              <a:t>Answer: Unfortunately, a lot!</a:t>
            </a:r>
          </a:p>
          <a:p>
            <a:endParaRPr lang="en-US" dirty="0"/>
          </a:p>
          <a:p>
            <a:r>
              <a:rPr lang="en-US" b="1" dirty="0"/>
              <a:t>Interruption</a:t>
            </a:r>
            <a:r>
              <a:rPr lang="en-US" dirty="0"/>
              <a:t>: Somehow disrupt the service being provided by the network to Alice and Bob</a:t>
            </a:r>
          </a:p>
          <a:p>
            <a:r>
              <a:rPr lang="en-US" b="1" dirty="0"/>
              <a:t>Interception</a:t>
            </a:r>
            <a:r>
              <a:rPr lang="en-US" dirty="0"/>
              <a:t>: Eavesdrop on communication meant to be private or confidential</a:t>
            </a:r>
          </a:p>
          <a:p>
            <a:r>
              <a:rPr lang="en-US" b="1" dirty="0"/>
              <a:t>Modification</a:t>
            </a:r>
            <a:r>
              <a:rPr lang="en-US" dirty="0"/>
              <a:t>: Tamper with information or network resources</a:t>
            </a:r>
          </a:p>
          <a:p>
            <a:r>
              <a:rPr lang="en-US" b="1" dirty="0"/>
              <a:t>Fabrication</a:t>
            </a:r>
            <a:r>
              <a:rPr lang="en-US" dirty="0"/>
              <a:t>: Counterfeit information or network resources or services are inserted into the network</a:t>
            </a:r>
          </a:p>
        </p:txBody>
      </p:sp>
    </p:spTree>
    <p:extLst>
      <p:ext uri="{BB962C8B-B14F-4D97-AF65-F5344CB8AC3E}">
        <p14:creationId xmlns:p14="http://schemas.microsoft.com/office/powerpoint/2010/main" val="198964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How can we protect ourselves from these attacks?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Interruption attacks:</a:t>
            </a:r>
          </a:p>
          <a:p>
            <a:pPr lvl="1"/>
            <a:r>
              <a:rPr lang="en-US" dirty="0"/>
              <a:t>Firewalls, replication, backups, and hardware appliances</a:t>
            </a:r>
          </a:p>
          <a:p>
            <a:r>
              <a:rPr lang="en-US" dirty="0"/>
              <a:t>Interception attacks:</a:t>
            </a:r>
          </a:p>
          <a:p>
            <a:pPr lvl="1"/>
            <a:r>
              <a:rPr lang="en-US" dirty="0"/>
              <a:t>Encryption, traffic padding</a:t>
            </a:r>
          </a:p>
          <a:p>
            <a:r>
              <a:rPr lang="en-US" dirty="0"/>
              <a:t>Modification attacks:</a:t>
            </a:r>
          </a:p>
          <a:p>
            <a:pPr lvl="1"/>
            <a:r>
              <a:rPr lang="en-US" dirty="0"/>
              <a:t>Encryption, traffic padding, backups, messaging techniques (checksums, sequence numbers, digests, authentication codes)</a:t>
            </a:r>
          </a:p>
          <a:p>
            <a:r>
              <a:rPr lang="en-US" dirty="0"/>
              <a:t>Fabrication attacks:</a:t>
            </a:r>
          </a:p>
          <a:p>
            <a:pPr lvl="1"/>
            <a:r>
              <a:rPr lang="en-US" dirty="0"/>
              <a:t>Authentication and authorization, firewalls, digital signatures</a:t>
            </a:r>
          </a:p>
        </p:txBody>
      </p:sp>
    </p:spTree>
    <p:extLst>
      <p:ext uri="{BB962C8B-B14F-4D97-AF65-F5344CB8AC3E}">
        <p14:creationId xmlns:p14="http://schemas.microsoft.com/office/powerpoint/2010/main" val="102781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Security</a:t>
            </a:r>
            <a:r>
              <a:rPr lang="en-US" dirty="0"/>
              <a:t> is a policy, </a:t>
            </a:r>
            <a:r>
              <a:rPr lang="en-US" b="1" dirty="0"/>
              <a:t>Protection</a:t>
            </a:r>
            <a:r>
              <a:rPr lang="en-US" dirty="0"/>
              <a:t> is a mechanism</a:t>
            </a:r>
          </a:p>
          <a:p>
            <a:r>
              <a:rPr lang="en-US" dirty="0"/>
              <a:t>Protection mechanisms implement security policies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Vulnerability</a:t>
            </a:r>
            <a:r>
              <a:rPr lang="en-US" dirty="0"/>
              <a:t> is a weakness that can allow an attacker to cause problems</a:t>
            </a:r>
          </a:p>
          <a:p>
            <a:r>
              <a:rPr lang="en-US" b="1" dirty="0"/>
              <a:t>Exploit</a:t>
            </a:r>
            <a:r>
              <a:rPr lang="en-US" dirty="0"/>
              <a:t> is an actual incident of taking advantage of a vulnerability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8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Virus</a:t>
            </a:r>
            <a:r>
              <a:rPr lang="en-US" dirty="0"/>
              <a:t> is a potentially damaging computer program (code), can spread and damage files. It attaches itself to programs, disks, or memory to propagate itself</a:t>
            </a:r>
          </a:p>
          <a:p>
            <a:r>
              <a:rPr lang="en-US" b="1" dirty="0"/>
              <a:t>Worm</a:t>
            </a:r>
            <a:r>
              <a:rPr lang="en-US" dirty="0"/>
              <a:t> copies itself repeatedly, using up resources and possibly shutting down computer or network</a:t>
            </a:r>
          </a:p>
          <a:p>
            <a:r>
              <a:rPr lang="en-US" b="1" dirty="0"/>
              <a:t>Trojan horse</a:t>
            </a:r>
            <a:r>
              <a:rPr lang="en-US" dirty="0"/>
              <a:t> hides within or looks like legitimate program until triggered, does not replicate itself on other computers</a:t>
            </a:r>
          </a:p>
          <a:p>
            <a:r>
              <a:rPr lang="en-US" b="1" dirty="0"/>
              <a:t>Spyware</a:t>
            </a:r>
            <a:r>
              <a:rPr lang="en-US" dirty="0"/>
              <a:t> is program placed on computer without user’s knowledge, collects personal information</a:t>
            </a:r>
          </a:p>
          <a:p>
            <a:r>
              <a:rPr lang="en-US" b="1" dirty="0"/>
              <a:t>Adware</a:t>
            </a:r>
            <a:r>
              <a:rPr lang="en-US" dirty="0"/>
              <a:t> is a program that displays online advertisements</a:t>
            </a:r>
          </a:p>
          <a:p>
            <a:r>
              <a:rPr lang="en-US" b="1" dirty="0"/>
              <a:t>Spam</a:t>
            </a:r>
            <a:r>
              <a:rPr lang="en-US" dirty="0"/>
              <a:t> is unsolicited e-mail message sent to many recipients</a:t>
            </a:r>
          </a:p>
        </p:txBody>
      </p:sp>
    </p:spTree>
    <p:extLst>
      <p:ext uri="{BB962C8B-B14F-4D97-AF65-F5344CB8AC3E}">
        <p14:creationId xmlns:p14="http://schemas.microsoft.com/office/powerpoint/2010/main" val="51557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Hoax </a:t>
            </a:r>
            <a:r>
              <a:rPr lang="en-US" dirty="0"/>
              <a:t>uses emotion to propagate, e.g., child's last wish</a:t>
            </a:r>
          </a:p>
          <a:p>
            <a:r>
              <a:rPr lang="en-US" b="1" dirty="0"/>
              <a:t>Trap door</a:t>
            </a:r>
            <a:r>
              <a:rPr lang="en-US" dirty="0"/>
              <a:t> is an undocumented entry point for debugging purposes</a:t>
            </a:r>
          </a:p>
          <a:p>
            <a:r>
              <a:rPr lang="en-US" b="1" dirty="0"/>
              <a:t>Logic bomb</a:t>
            </a:r>
            <a:r>
              <a:rPr lang="en-US" dirty="0"/>
              <a:t> are instructions that trigger on some event in the future</a:t>
            </a:r>
          </a:p>
          <a:p>
            <a:r>
              <a:rPr lang="en-US" b="1" dirty="0"/>
              <a:t>Zombie</a:t>
            </a:r>
            <a:r>
              <a:rPr lang="en-US" dirty="0"/>
              <a:t> are malicious instructions that can be triggered remotely</a:t>
            </a:r>
          </a:p>
          <a:p>
            <a:r>
              <a:rPr lang="en-US" b="1" dirty="0"/>
              <a:t>Phishing</a:t>
            </a:r>
            <a:r>
              <a:rPr lang="en-US" dirty="0"/>
              <a:t> is a scam in which a perpetrator sends an official looking e-mail that attempts to obtain your personal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004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Security Service</a:t>
            </a: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693350" y="1467337"/>
            <a:ext cx="8077200" cy="4648200"/>
          </a:xfrm>
        </p:spPr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</a:pPr>
            <a:r>
              <a:rPr lang="en-US" sz="2700" dirty="0">
                <a:solidFill>
                  <a:schemeClr val="tx2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is something that enhances the security of the data processing systems and the information transfers of an organization</a:t>
            </a:r>
          </a:p>
          <a:p>
            <a:pPr lvl="1">
              <a:lnSpc>
                <a:spcPct val="90000"/>
              </a:lnSpc>
            </a:pPr>
            <a:r>
              <a:rPr lang="en-US" sz="2700" dirty="0">
                <a:solidFill>
                  <a:schemeClr val="tx2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intended to counter security attacks</a:t>
            </a:r>
          </a:p>
          <a:p>
            <a:pPr lvl="1">
              <a:lnSpc>
                <a:spcPct val="90000"/>
              </a:lnSpc>
            </a:pPr>
            <a:r>
              <a:rPr lang="en-US" sz="2700" dirty="0">
                <a:solidFill>
                  <a:schemeClr val="tx2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make use of one or more security mechanisms to provide the service</a:t>
            </a:r>
          </a:p>
          <a:p>
            <a:pPr lvl="1">
              <a:lnSpc>
                <a:spcPct val="90000"/>
              </a:lnSpc>
            </a:pPr>
            <a:r>
              <a:rPr lang="en-US" sz="2700" dirty="0">
                <a:solidFill>
                  <a:schemeClr val="tx2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replicate functions normally associated with physical documents</a:t>
            </a:r>
          </a:p>
          <a:p>
            <a:pPr lvl="2">
              <a:lnSpc>
                <a:spcPct val="90000"/>
              </a:lnSpc>
            </a:pPr>
            <a:r>
              <a:rPr lang="en-US" sz="2700" dirty="0" err="1">
                <a:solidFill>
                  <a:schemeClr val="tx2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E.g</a:t>
            </a:r>
            <a:r>
              <a:rPr lang="en-US" sz="2700" dirty="0">
                <a:solidFill>
                  <a:schemeClr val="tx2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have signatures, dates; need protection from disclosure, tampering, or destruction; be notarized or witnessed; be recorded or licensed</a:t>
            </a:r>
          </a:p>
          <a:p>
            <a:pPr lvl="2">
              <a:lnSpc>
                <a:spcPct val="90000"/>
              </a:lnSpc>
            </a:pPr>
            <a:endParaRPr lang="en-US" sz="2700" dirty="0">
              <a:solidFill>
                <a:schemeClr val="tx2">
                  <a:lumMod val="60000"/>
                  <a:lumOff val="40000"/>
                </a:schemeClr>
              </a:solidFill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</a:pP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Information Security</a:t>
            </a:r>
            <a:endParaRPr lang="en-AU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noFill/>
          <a:ln w="19050"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fld id="{AD363249-5BA1-4FE8-B0FD-C12B1C504952}" type="slidenum">
              <a:rPr lang="en-US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eaLnBrk="1" hangingPunct="1"/>
              <a:t>43</a:t>
            </a:fld>
            <a:endParaRPr lang="en-AU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15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Security Services</a:t>
            </a:r>
            <a:endParaRPr lang="en-AU" dirty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19201"/>
            <a:ext cx="7772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sz="27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X.800 defines it as:</a:t>
            </a:r>
          </a:p>
          <a:p>
            <a:pPr marL="114300" indent="0" eaLnBrk="1" hangingPunct="1">
              <a:lnSpc>
                <a:spcPct val="90000"/>
              </a:lnSpc>
              <a:buNone/>
            </a:pPr>
            <a:r>
              <a:rPr lang="en-AU" sz="27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 service provided by a protocol layer of communicating open systems, which ensures adequate security of the systems or of data transfers</a:t>
            </a:r>
          </a:p>
          <a:p>
            <a:pPr marL="114300" indent="0" eaLnBrk="1" hangingPunct="1">
              <a:lnSpc>
                <a:spcPct val="90000"/>
              </a:lnSpc>
              <a:buNone/>
            </a:pPr>
            <a:endParaRPr lang="en-AU" sz="27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X.800 defines it in 5 major categories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Authentication - 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assurance that the communicating entity is the one claimed</a:t>
            </a:r>
          </a:p>
          <a:p>
            <a:pPr marL="114300" indent="0" eaLnBrk="1" hangingPunct="1">
              <a:lnSpc>
                <a:spcPct val="90000"/>
              </a:lnSpc>
              <a:buNone/>
            </a:pPr>
            <a:endParaRPr lang="en-AU" sz="27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14300" indent="0" eaLnBrk="1" hangingPunct="1">
              <a:lnSpc>
                <a:spcPct val="90000"/>
              </a:lnSpc>
              <a:buNone/>
            </a:pPr>
            <a:endParaRPr lang="en-AU" sz="27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AU" sz="27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Information Security</a:t>
            </a:r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noFill/>
          <a:ln w="19050"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fld id="{AD363249-5BA1-4FE8-B0FD-C12B1C504952}" type="slidenum">
              <a:rPr lang="en-US" smtClean="0"/>
              <a:pPr eaLnBrk="1" hangingPunct="1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00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Security Services (X.800)</a:t>
            </a:r>
            <a:endParaRPr lang="en-AU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7724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Access Control - </a:t>
            </a:r>
            <a:r>
              <a:rPr lang="en-AU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prevention of the unauthorized use of a resource</a:t>
            </a:r>
          </a:p>
          <a:p>
            <a:pPr eaLnBrk="1" hangingPunct="1">
              <a:lnSpc>
                <a:spcPct val="90000"/>
              </a:lnSpc>
            </a:pPr>
            <a:r>
              <a:rPr lang="en-US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 Confidentiality –</a:t>
            </a:r>
            <a:r>
              <a:rPr lang="en-AU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protection of data from unauthorized disclosure</a:t>
            </a:r>
          </a:p>
          <a:p>
            <a:pPr eaLnBrk="1" hangingPunct="1">
              <a:lnSpc>
                <a:spcPct val="90000"/>
              </a:lnSpc>
            </a:pPr>
            <a:r>
              <a:rPr lang="en-US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 Integrity - </a:t>
            </a:r>
            <a:r>
              <a:rPr lang="en-AU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assurance that data received is as sent by an authorized entity</a:t>
            </a:r>
          </a:p>
          <a:p>
            <a:pPr eaLnBrk="1" hangingPunct="1">
              <a:lnSpc>
                <a:spcPct val="90000"/>
              </a:lnSpc>
            </a:pPr>
            <a:r>
              <a:rPr lang="en-US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Non-Repudiation - </a:t>
            </a:r>
            <a:r>
              <a:rPr lang="en-AU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protection against denial by one of the parties in a communication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AU" sz="2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</a:t>
            </a:r>
          </a:p>
          <a:p>
            <a:pPr eaLnBrk="1" hangingPunct="1">
              <a:lnSpc>
                <a:spcPct val="90000"/>
              </a:lnSpc>
            </a:pPr>
            <a:endParaRPr lang="en-AU" sz="2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AU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AU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AU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Information Security</a:t>
            </a:r>
          </a:p>
        </p:txBody>
      </p:sp>
      <p:sp>
        <p:nvSpPr>
          <p:cNvPr id="22532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noFill/>
          <a:ln w="19050"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fld id="{AD363249-5BA1-4FE8-B0FD-C12B1C504952}" type="slidenum">
              <a:rPr lang="en-US" smtClean="0"/>
              <a:pPr eaLnBrk="1" hangingPunct="1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403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1AF9-6FC0-4828-9FF0-7847165E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RFC 2828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89403-30A7-401D-A3CE-CCAA3D69C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eaLnBrk="1" hangingPunct="1">
              <a:lnSpc>
                <a:spcPct val="90000"/>
              </a:lnSpc>
            </a:pPr>
            <a:r>
              <a:rPr lang="en-AU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RFC 2828 defines it as:</a:t>
            </a:r>
          </a:p>
          <a:p>
            <a:pPr marL="114300" indent="0" eaLnBrk="1" hangingPunct="1">
              <a:lnSpc>
                <a:spcPct val="90000"/>
              </a:lnSpc>
              <a:buNone/>
            </a:pPr>
            <a:r>
              <a:rPr lang="en-AU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 processing or communication service provided by a system to give a specific kind of protection to system resources</a:t>
            </a:r>
          </a:p>
          <a:p>
            <a:pPr marL="114300" indent="0" eaLnBrk="1" hangingPunct="1">
              <a:lnSpc>
                <a:spcPct val="90000"/>
              </a:lnSpc>
              <a:buNone/>
            </a:pPr>
            <a:endParaRPr lang="en-AU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14300" indent="0" eaLnBrk="1" hangingPunct="1">
              <a:lnSpc>
                <a:spcPct val="90000"/>
              </a:lnSpc>
              <a:buNone/>
            </a:pPr>
            <a:r>
              <a:rPr lang="en-US" dirty="0"/>
              <a:t>Includes the same core services but also broadens them with </a:t>
            </a:r>
            <a:r>
              <a:rPr lang="en-US" b="1" dirty="0"/>
              <a:t>Internet-specific contexts</a:t>
            </a:r>
            <a:r>
              <a:rPr lang="en-US" dirty="0"/>
              <a:t> (e.g., email, IPsec, key management)</a:t>
            </a:r>
          </a:p>
          <a:p>
            <a:pPr marL="114300" indent="0" eaLnBrk="1" hangingPunct="1">
              <a:lnSpc>
                <a:spcPct val="90000"/>
              </a:lnSpc>
              <a:buNone/>
            </a:pPr>
            <a:endParaRPr lang="en-US" dirty="0"/>
          </a:p>
          <a:p>
            <a:pPr marL="114300" indent="0" eaLnBrk="1" hangingPunct="1">
              <a:lnSpc>
                <a:spcPct val="90000"/>
              </a:lnSpc>
              <a:buNone/>
            </a:pPr>
            <a:r>
              <a:rPr lang="en-US" dirty="0"/>
              <a:t>More conceptual, explaining security terms and their relationships</a:t>
            </a:r>
            <a:endParaRPr lang="en-US" b="1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4376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 mechanism that is designed to detect, prevent, or recover from a security attack.</a:t>
            </a:r>
          </a:p>
          <a:p>
            <a:pPr algn="just"/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Examples of mechanisms are encryption algorithms, digital signatures,  and authentication protocols.</a:t>
            </a:r>
            <a:endParaRPr lang="en-AU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Information Security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363249-5BA1-4FE8-B0FD-C12B1C50495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9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/>
              <a:t>Security Mechanisms (X.800)</a:t>
            </a:r>
            <a:endParaRPr lang="en-AU" sz="4400" dirty="0"/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specific security mechanisms:</a:t>
            </a:r>
          </a:p>
          <a:p>
            <a:pPr lvl="1" eaLnBrk="1" hangingPunct="1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encipherment, digital signatures, access controls, data integrity, authentication exchange, traffic padding, </a:t>
            </a:r>
            <a:r>
              <a:rPr lang="en-US" sz="2800">
                <a:solidFill>
                  <a:schemeClr val="tx2">
                    <a:lumMod val="60000"/>
                    <a:lumOff val="40000"/>
                  </a:schemeClr>
                </a:solidFill>
              </a:rPr>
              <a:t>routing control</a:t>
            </a:r>
            <a:endParaRPr lang="en-AU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/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pervasive security mechanisms:</a:t>
            </a:r>
          </a:p>
          <a:p>
            <a:pPr lvl="1" eaLnBrk="1" hangingPunct="1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trusted functionality, security labels, event detection, security audit trails, security recovery</a:t>
            </a:r>
            <a:endParaRPr lang="en-AU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 eaLnBrk="1" hangingPunct="1"/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/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Information Security</a:t>
            </a:r>
          </a:p>
        </p:txBody>
      </p:sp>
      <p:sp>
        <p:nvSpPr>
          <p:cNvPr id="23556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noFill/>
          <a:ln w="19050"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fld id="{AD363249-5BA1-4FE8-B0FD-C12B1C504952}" type="slidenum">
              <a:rPr lang="en-US" smtClean="0"/>
              <a:pPr eaLnBrk="1" hangingPunct="1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1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96" name="Picture 4" descr="&#10;Fig1.2.pdf                                                     00ABB570  Mnementh                      BEAE7A2F: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9655" t="29002" r="11407" b="31195"/>
          <a:stretch/>
        </p:blipFill>
        <p:spPr bwMode="auto">
          <a:xfrm>
            <a:off x="767681" y="1196752"/>
            <a:ext cx="7919119" cy="5112568"/>
          </a:xfrm>
          <a:prstGeom prst="rect">
            <a:avLst/>
          </a:prstGeom>
          <a:noFill/>
          <a:ln w="25400">
            <a:noFill/>
            <a:prstDash val="solid"/>
          </a:ln>
          <a:effectLst>
            <a:glow rad="38100">
              <a:schemeClr val="accent1">
                <a:alpha val="75000"/>
              </a:schemeClr>
            </a:glow>
            <a:outerShdw blurRad="50800" dist="38100" dir="2700000" sx="73000" sy="73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276725"/>
            <a:ext cx="2581275" cy="25812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Security Concepts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947815146"/>
      </p:ext>
    </p:extLst>
  </p:cSld>
  <p:clrMapOvr>
    <a:masterClrMapping/>
  </p:clrMapOvr>
  <p:transition spd="slow">
    <p:wipe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 Computer Security by William Stallings and </a:t>
            </a:r>
            <a:r>
              <a:rPr lang="en-US"/>
              <a:t>Lawrie Brown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Cryptography and Network Security by William Stalling 6th Edition, 2012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Information Security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363249-5BA1-4FE8-B0FD-C12B1C50495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62200" y="2819400"/>
            <a:ext cx="3581400" cy="762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Thanks </a:t>
            </a:r>
            <a:b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1009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2739</Words>
  <Application>Microsoft Office PowerPoint</Application>
  <PresentationFormat>On-screen Show (4:3)</PresentationFormat>
  <Paragraphs>353</Paragraphs>
  <Slides>51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Calibri</vt:lpstr>
      <vt:lpstr>Georgia</vt:lpstr>
      <vt:lpstr>Segoe UI</vt:lpstr>
      <vt:lpstr>Times New Roman</vt:lpstr>
      <vt:lpstr>Wingdings</vt:lpstr>
      <vt:lpstr>Office Theme</vt:lpstr>
      <vt:lpstr>Training</vt:lpstr>
      <vt:lpstr> Information Security  </vt:lpstr>
      <vt:lpstr> Key Security Concepts  </vt:lpstr>
      <vt:lpstr>Something to worry about</vt:lpstr>
      <vt:lpstr>Something to worry about</vt:lpstr>
      <vt:lpstr>Something to worry about</vt:lpstr>
      <vt:lpstr>Absolute Security vs Absolute Access</vt:lpstr>
      <vt:lpstr>Absolute Security vs Absolute Access</vt:lpstr>
      <vt:lpstr>Network Security – First Concepts</vt:lpstr>
      <vt:lpstr>Network Security – First Concepts</vt:lpstr>
      <vt:lpstr>Network Security – First Concepts</vt:lpstr>
      <vt:lpstr>Cost benefit analysis</vt:lpstr>
      <vt:lpstr>Some Rational Thinking !</vt:lpstr>
      <vt:lpstr>Some Rational Thinking !</vt:lpstr>
      <vt:lpstr>Con.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Some additional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Types of Attacks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Security Service</vt:lpstr>
      <vt:lpstr>Security Services</vt:lpstr>
      <vt:lpstr>Security Services (X.800)</vt:lpstr>
      <vt:lpstr>RFC 2828</vt:lpstr>
      <vt:lpstr>Security Mechanism</vt:lpstr>
      <vt:lpstr>Security Mechanisms (X.800)</vt:lpstr>
      <vt:lpstr>Security Concepts and Relationships</vt:lpstr>
      <vt:lpstr>Further Readings</vt:lpstr>
      <vt:lpstr>Thanks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CSC332 – Data Security  and Encryption</dc:title>
  <dc:creator>Dr. Ahmad</dc:creator>
  <cp:lastModifiedBy>Amber Sarfraz</cp:lastModifiedBy>
  <cp:revision>114</cp:revision>
  <dcterms:created xsi:type="dcterms:W3CDTF">2006-08-16T00:00:00Z</dcterms:created>
  <dcterms:modified xsi:type="dcterms:W3CDTF">2025-10-08T05:33:15Z</dcterms:modified>
</cp:coreProperties>
</file>