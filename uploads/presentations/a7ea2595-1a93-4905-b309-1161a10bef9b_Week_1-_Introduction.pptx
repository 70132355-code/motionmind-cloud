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theme/theme6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73" r:id="rId2"/>
    <p:sldMasterId id="2147483686" r:id="rId3"/>
    <p:sldMasterId id="2147483699" r:id="rId4"/>
    <p:sldMasterId id="2147483712" r:id="rId5"/>
  </p:sldMasterIdLst>
  <p:notesMasterIdLst>
    <p:notesMasterId r:id="rId29"/>
  </p:notesMasterIdLst>
  <p:sldIdLst>
    <p:sldId id="256" r:id="rId6"/>
    <p:sldId id="282" r:id="rId7"/>
    <p:sldId id="259" r:id="rId8"/>
    <p:sldId id="260" r:id="rId9"/>
    <p:sldId id="261" r:id="rId10"/>
    <p:sldId id="262" r:id="rId11"/>
    <p:sldId id="263" r:id="rId12"/>
    <p:sldId id="264" r:id="rId13"/>
    <p:sldId id="266" r:id="rId14"/>
    <p:sldId id="278" r:id="rId15"/>
    <p:sldId id="279" r:id="rId16"/>
    <p:sldId id="280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81" r:id="rId26"/>
    <p:sldId id="275" r:id="rId27"/>
    <p:sldId id="354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presProps" Target="presProps.xml"/><Relationship Id="rId8" Type="http://schemas.openxmlformats.org/officeDocument/2006/relationships/slide" Target="slides/slide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F4970B-A218-4D07-8416-6375D821F2A0}" type="datetimeFigureOut">
              <a:rPr lang="en-US" smtClean="0"/>
              <a:t>9/24/2025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195A67-117E-42AC-8C03-08717BB33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1615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>
                <a:solidFill>
                  <a:prstClr val="black"/>
                </a:solidFill>
              </a:rPr>
              <a:pPr/>
              <a:t>1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47269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>
                <a:solidFill>
                  <a:prstClr val="black"/>
                </a:solidFill>
              </a:rPr>
              <a:pPr/>
              <a:t>2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7401457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14334">
              <a:defRPr>
                <a:solidFill>
                  <a:schemeClr val="tx1"/>
                </a:solidFill>
                <a:latin typeface="Helvetica" pitchFamily="34" charset="0"/>
              </a:defRPr>
            </a:lvl1pPr>
            <a:lvl2pPr marL="703797" indent="-270691" defTabSz="914334">
              <a:defRPr>
                <a:solidFill>
                  <a:schemeClr val="tx1"/>
                </a:solidFill>
                <a:latin typeface="Helvetica" pitchFamily="34" charset="0"/>
              </a:defRPr>
            </a:lvl2pPr>
            <a:lvl3pPr marL="1082764" indent="-216553" defTabSz="914334">
              <a:defRPr>
                <a:solidFill>
                  <a:schemeClr val="tx1"/>
                </a:solidFill>
                <a:latin typeface="Helvetica" pitchFamily="34" charset="0"/>
              </a:defRPr>
            </a:lvl3pPr>
            <a:lvl4pPr marL="1515869" indent="-216553" defTabSz="914334">
              <a:defRPr>
                <a:solidFill>
                  <a:schemeClr val="tx1"/>
                </a:solidFill>
                <a:latin typeface="Helvetica" pitchFamily="34" charset="0"/>
              </a:defRPr>
            </a:lvl4pPr>
            <a:lvl5pPr marL="1948975" indent="-216553" defTabSz="914334">
              <a:defRPr>
                <a:solidFill>
                  <a:schemeClr val="tx1"/>
                </a:solidFill>
                <a:latin typeface="Helvetica" pitchFamily="34" charset="0"/>
              </a:defRPr>
            </a:lvl5pPr>
            <a:lvl6pPr marL="2382081" indent="-216553" algn="ctr" defTabSz="91433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6pPr>
            <a:lvl7pPr marL="2815186" indent="-216553" algn="ctr" defTabSz="91433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7pPr>
            <a:lvl8pPr marL="3248292" indent="-216553" algn="ctr" defTabSz="91433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8pPr>
            <a:lvl9pPr marL="3681397" indent="-216553" algn="ctr" defTabSz="914334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Helvetica" pitchFamily="34" charset="0"/>
              </a:defRPr>
            </a:lvl9pPr>
          </a:lstStyle>
          <a:p>
            <a:fld id="{7295AD23-884C-4391-8557-F20E97F35101}" type="slidenum">
              <a:rPr lang="en-US" smtClean="0">
                <a:solidFill>
                  <a:prstClr val="black"/>
                </a:solidFill>
                <a:latin typeface="Times New Roman" pitchFamily="18" charset="0"/>
              </a:rPr>
              <a:pPr/>
              <a:t>3</a:t>
            </a:fld>
            <a:endParaRPr lang="en-US">
              <a:solidFill>
                <a:prstClr val="black"/>
              </a:solidFill>
              <a:latin typeface="Times New Roman" pitchFamily="18" charset="0"/>
            </a:endParaRP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ln/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sv-SE">
              <a:latin typeface="Arial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C6EAC7D-5A89-47C2-8ABA-56C9C2DEF7A4}" type="slidenum">
              <a:rPr lang="en-US" smtClean="0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221459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5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1" y="2286004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1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/>
              <a:t>Company Logo</a:t>
            </a:r>
          </a:p>
        </p:txBody>
      </p:sp>
    </p:spTree>
    <p:extLst>
      <p:ext uri="{BB962C8B-B14F-4D97-AF65-F5344CB8AC3E}">
        <p14:creationId xmlns:p14="http://schemas.microsoft.com/office/powerpoint/2010/main" val="109593801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5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>
            <a:normAutofit/>
          </a:bodyPr>
          <a:lstStyle>
            <a:lvl1pPr algn="ctr">
              <a:defRPr sz="3600" b="1" cap="small" baseline="0">
                <a:solidFill>
                  <a:srgbClr val="0AA1C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Company Logo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800600" y="959827"/>
            <a:ext cx="35052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Module # 1</a:t>
            </a:r>
          </a:p>
        </p:txBody>
      </p:sp>
    </p:spTree>
    <p:extLst>
      <p:ext uri="{BB962C8B-B14F-4D97-AF65-F5344CB8AC3E}">
        <p14:creationId xmlns:p14="http://schemas.microsoft.com/office/powerpoint/2010/main" val="347605520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2404"/>
            <a:ext cx="8382000" cy="864207"/>
          </a:xfrm>
          <a:noFill/>
        </p:spPr>
        <p:txBody>
          <a:bodyPr lIns="182880" anchor="ctr" anchorCtr="0">
            <a:normAutofit/>
          </a:bodyPr>
          <a:lstStyle>
            <a:lvl1pPr algn="l">
              <a:defRPr lang="en-US" sz="3600" b="1" dirty="0">
                <a:solidFill>
                  <a:srgbClr val="0AA1C5"/>
                </a:solidFill>
                <a:effectLst/>
                <a:latin typeface="Garamond" pitchFamily="18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69009"/>
            <a:ext cx="8382000" cy="5536592"/>
          </a:xfrm>
        </p:spPr>
        <p:txBody>
          <a:bodyPr tIns="91440" rIns="365760" bIns="91440">
            <a:normAutofit/>
          </a:bodyPr>
          <a:lstStyle>
            <a:lvl1pPr marL="457200" indent="-457200" algn="just">
              <a:buFont typeface="Wingdings" panose="05000000000000000000" pitchFamily="2" charset="2"/>
              <a:buChar char="q"/>
              <a:defRPr sz="2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806450" indent="-349250" algn="just">
              <a:buFont typeface="Wingdings" panose="05000000000000000000" pitchFamily="2" charset="2"/>
              <a:buChar char="q"/>
              <a:defRPr sz="20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263650" indent="-349250" algn="just">
              <a:buFont typeface="Wingdings" panose="05000000000000000000" pitchFamily="2" charset="2"/>
              <a:buChar char="q"/>
              <a:defRPr sz="18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720850" indent="-349250" algn="just">
              <a:buFont typeface="Wingdings" panose="05000000000000000000" pitchFamily="2" charset="2"/>
              <a:buChar char="q"/>
              <a:defRPr sz="16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 algn="just">
              <a:buFont typeface="Wingdings" panose="05000000000000000000" pitchFamily="2" charset="2"/>
              <a:buChar char="q"/>
              <a:defRPr sz="1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548640" y="990600"/>
            <a:ext cx="7680960" cy="0"/>
          </a:xfrm>
          <a:prstGeom prst="line">
            <a:avLst/>
          </a:prstGeom>
          <a:ln w="69850">
            <a:solidFill>
              <a:srgbClr val="0AA1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2" y="0"/>
            <a:ext cx="1449845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3882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1238482"/>
      </p:ext>
    </p:extLst>
  </p:cSld>
  <p:clrMapOvr>
    <a:masterClrMapping/>
  </p:clrMapOvr>
  <p:transition spd="slow">
    <p:wipe dir="d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88894030"/>
      </p:ext>
    </p:extLst>
  </p:cSld>
  <p:clrMapOvr>
    <a:masterClrMapping/>
  </p:clrMapOvr>
  <p:transition spd="slow">
    <p:wipe dir="d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320196"/>
      </p:ext>
    </p:extLst>
  </p:cSld>
  <p:clrMapOvr>
    <a:masterClrMapping/>
  </p:clrMapOvr>
  <p:transition spd="slow">
    <p:wipe dir="d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152124"/>
      </p:ext>
    </p:extLst>
  </p:cSld>
  <p:clrMapOvr>
    <a:masterClrMapping/>
  </p:clrMapOvr>
  <p:transition spd="slow">
    <p:wipe dir="d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36303891"/>
      </p:ext>
    </p:extLst>
  </p:cSld>
  <p:clrMapOvr>
    <a:masterClrMapping/>
  </p:clrMapOvr>
  <p:transition spd="slow">
    <p:wipe dir="d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42"/>
            <a:ext cx="5867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0837015"/>
      </p:ext>
    </p:extLst>
  </p:cSld>
  <p:clrMapOvr>
    <a:masterClrMapping/>
  </p:clrMapOvr>
  <p:transition spd="slow">
    <p:wipe dir="d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3546628"/>
      </p:ext>
    </p:extLst>
  </p:cSld>
  <p:clrMapOvr>
    <a:masterClrMapping/>
  </p:clrMapOvr>
  <p:transition spd="slow">
    <p:wipe dir="d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67755103"/>
      </p:ext>
    </p:extLst>
  </p:cSld>
  <p:clrMapOvr>
    <a:masterClrMapping/>
  </p:clrMapOvr>
  <p:transition spd="slow">
    <p:wipe dir="d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5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4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4"/>
            <a:ext cx="2895600" cy="365125"/>
          </a:xfr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4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8519441"/>
      </p:ext>
    </p:extLst>
  </p:cSld>
  <p:clrMapOvr>
    <a:masterClrMapping/>
  </p:clrMapOvr>
  <p:transition spd="slow">
    <p:wipe dir="d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32292" y="196986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465F4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57150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251"/>
            <a:ext cx="2457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796253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867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94547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40634054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95970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0362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7720321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615342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540377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54810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4730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974428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32292" y="196986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465F4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57150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251"/>
            <a:ext cx="2457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03465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079433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670083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184042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715542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08896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84843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1901638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8968516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4398664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6601838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6482760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4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32292" y="1969862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465F46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191000" y="57150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251"/>
            <a:ext cx="245745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76770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5" y="0"/>
            <a:ext cx="9100457" cy="68797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2590801" y="2286004"/>
            <a:ext cx="6180224" cy="1470025"/>
          </a:xfrm>
        </p:spPr>
        <p:txBody>
          <a:bodyPr anchor="t"/>
          <a:lstStyle>
            <a:lvl1pPr algn="r">
              <a:defRPr b="1" cap="small" baseline="0">
                <a:solidFill>
                  <a:srgbClr val="003300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401" y="4038600"/>
            <a:ext cx="4772528" cy="990600"/>
          </a:xfrm>
        </p:spPr>
        <p:txBody>
          <a:bodyPr>
            <a:normAutofit/>
          </a:bodyPr>
          <a:lstStyle>
            <a:lvl1pPr marL="0" indent="0" algn="r">
              <a:buNone/>
              <a:defRPr sz="2000" b="0">
                <a:solidFill>
                  <a:schemeClr val="tx1"/>
                </a:solidFill>
                <a:latin typeface="Georgia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1251"/>
            <a:ext cx="3721618" cy="6858000"/>
          </a:xfrm>
          <a:prstGeom prst="rect">
            <a:avLst/>
          </a:prstGeom>
        </p:spPr>
      </p:pic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858000" y="5105400"/>
            <a:ext cx="1828800" cy="990600"/>
          </a:xfrm>
        </p:spPr>
        <p:txBody>
          <a:bodyPr>
            <a:normAutofit/>
          </a:bodyPr>
          <a:lstStyle>
            <a:lvl1pPr marL="0" indent="0" algn="ctr">
              <a:buNone/>
              <a:defRPr sz="2000" baseline="0"/>
            </a:lvl1pPr>
          </a:lstStyle>
          <a:p>
            <a:r>
              <a:rPr lang="en-US" dirty="0"/>
              <a:t>Company Logo</a:t>
            </a:r>
          </a:p>
        </p:txBody>
      </p:sp>
    </p:spTree>
    <p:extLst>
      <p:ext uri="{BB962C8B-B14F-4D97-AF65-F5344CB8AC3E}">
        <p14:creationId xmlns:p14="http://schemas.microsoft.com/office/powerpoint/2010/main" val="2113760948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5" y="0"/>
            <a:ext cx="9100457" cy="687977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3161049" y="-3176815"/>
            <a:ext cx="2819400" cy="917303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572000" y="3048000"/>
            <a:ext cx="4343400" cy="1362075"/>
          </a:xfrm>
        </p:spPr>
        <p:txBody>
          <a:bodyPr anchor="b" anchorCtr="0">
            <a:normAutofit/>
          </a:bodyPr>
          <a:lstStyle>
            <a:lvl1pPr algn="ctr">
              <a:defRPr sz="3600" b="1" cap="small" baseline="0">
                <a:solidFill>
                  <a:srgbClr val="0AA1C5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3" hasCustomPrompt="1"/>
          </p:nvPr>
        </p:nvSpPr>
        <p:spPr>
          <a:xfrm>
            <a:off x="6781800" y="5334000"/>
            <a:ext cx="2133600" cy="9906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</a:lstStyle>
          <a:p>
            <a:r>
              <a:rPr lang="en-US" dirty="0"/>
              <a:t>Company Logo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00600" y="959827"/>
            <a:ext cx="3505200" cy="58477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3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Module # 1</a:t>
            </a:r>
          </a:p>
        </p:txBody>
      </p:sp>
    </p:spTree>
    <p:extLst>
      <p:ext uri="{BB962C8B-B14F-4D97-AF65-F5344CB8AC3E}">
        <p14:creationId xmlns:p14="http://schemas.microsoft.com/office/powerpoint/2010/main" val="2611027786"/>
      </p:ext>
    </p:extLst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09600" y="152404"/>
            <a:ext cx="8382000" cy="864207"/>
          </a:xfrm>
          <a:noFill/>
        </p:spPr>
        <p:txBody>
          <a:bodyPr lIns="182880" anchor="ctr" anchorCtr="0">
            <a:normAutofit/>
          </a:bodyPr>
          <a:lstStyle>
            <a:lvl1pPr algn="l">
              <a:defRPr lang="en-US" sz="3600" b="1" dirty="0">
                <a:solidFill>
                  <a:srgbClr val="0AA1C5"/>
                </a:solidFill>
                <a:effectLst/>
                <a:latin typeface="Garamond" pitchFamily="18" charset="0"/>
                <a:cs typeface="Segoe UI" panose="020B050204020402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69009"/>
            <a:ext cx="8382000" cy="5536592"/>
          </a:xfrm>
        </p:spPr>
        <p:txBody>
          <a:bodyPr tIns="91440" rIns="365760" bIns="91440">
            <a:normAutofit/>
          </a:bodyPr>
          <a:lstStyle>
            <a:lvl1pPr marL="457200" indent="-457200" algn="just">
              <a:buFont typeface="Wingdings" panose="05000000000000000000" pitchFamily="2" charset="2"/>
              <a:buChar char="q"/>
              <a:defRPr sz="2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806450" indent="-349250" algn="just">
              <a:buFont typeface="Wingdings" panose="05000000000000000000" pitchFamily="2" charset="2"/>
              <a:buChar char="q"/>
              <a:defRPr sz="20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1263650" indent="-349250" algn="just">
              <a:buFont typeface="Wingdings" panose="05000000000000000000" pitchFamily="2" charset="2"/>
              <a:buChar char="q"/>
              <a:defRPr sz="18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3pPr>
            <a:lvl4pPr marL="1720850" indent="-349250" algn="just">
              <a:buFont typeface="Wingdings" panose="05000000000000000000" pitchFamily="2" charset="2"/>
              <a:buChar char="q"/>
              <a:defRPr sz="16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4pPr>
            <a:lvl5pPr marL="2057400" indent="-228600" algn="just">
              <a:buFont typeface="Wingdings" panose="05000000000000000000" pitchFamily="2" charset="2"/>
              <a:buChar char="q"/>
              <a:defRPr sz="140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6" name="Straight Connector 5"/>
          <p:cNvCxnSpPr/>
          <p:nvPr/>
        </p:nvCxnSpPr>
        <p:spPr>
          <a:xfrm>
            <a:off x="548640" y="990600"/>
            <a:ext cx="7680960" cy="0"/>
          </a:xfrm>
          <a:prstGeom prst="line">
            <a:avLst/>
          </a:prstGeom>
          <a:ln w="69850">
            <a:solidFill>
              <a:srgbClr val="0AA1C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72402" y="0"/>
            <a:ext cx="1449845" cy="128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9794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768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42581428"/>
      </p:ext>
    </p:extLst>
  </p:cSld>
  <p:clrMapOvr>
    <a:masterClrMapping/>
  </p:clrMapOvr>
  <p:transition spd="slow">
    <p:wipe dir="d"/>
  </p:transition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736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736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09916270"/>
      </p:ext>
    </p:extLst>
  </p:cSld>
  <p:clrMapOvr>
    <a:masterClrMapping/>
  </p:clrMapOvr>
  <p:transition spd="slow">
    <p:wipe dir="d"/>
  </p:transition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03650" y="273054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2" y="1435103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09012294"/>
      </p:ext>
    </p:extLst>
  </p:cSld>
  <p:clrMapOvr>
    <a:masterClrMapping/>
  </p:clrMapOvr>
  <p:transition spd="slow">
    <p:wipe dir="d"/>
  </p:transition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1029397"/>
      </p:ext>
    </p:extLst>
  </p:cSld>
  <p:clrMapOvr>
    <a:masterClrMapping/>
  </p:clrMapOvr>
  <p:transition spd="slow">
    <p:wipe dir="d"/>
  </p:transition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3254713"/>
      </p:ext>
    </p:extLst>
  </p:cSld>
  <p:clrMapOvr>
    <a:masterClrMapping/>
  </p:clrMapOvr>
  <p:transition spd="slow">
    <p:wipe dir="d"/>
  </p:transition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2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274642"/>
            <a:ext cx="5867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0939106"/>
      </p:ext>
    </p:extLst>
  </p:cSld>
  <p:clrMapOvr>
    <a:masterClrMapping/>
  </p:clrMapOvr>
  <p:transition spd="slow">
    <p:wipe dir="d"/>
  </p:transition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0063466"/>
      </p:ext>
    </p:extLst>
  </p:cSld>
  <p:clrMapOvr>
    <a:masterClrMapping/>
  </p:clrMapOvr>
  <p:transition spd="slow">
    <p:wipe dir="d"/>
  </p:transition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097987"/>
      </p:ext>
    </p:extLst>
  </p:cSld>
  <p:clrMapOvr>
    <a:masterClrMapping/>
  </p:clrMapOvr>
  <p:transition spd="slow">
    <p:wipe dir="d"/>
  </p:transition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ackground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5" y="0"/>
            <a:ext cx="9100457" cy="6879771"/>
          </a:xfrm>
          <a:prstGeom prst="rect">
            <a:avLst/>
          </a:prstGeom>
        </p:spPr>
      </p:pic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>
          <a:xfrm>
            <a:off x="762000" y="6356354"/>
            <a:ext cx="2133600" cy="365125"/>
          </a:xfrm>
        </p:spPr>
        <p:txBody>
          <a:bodyPr/>
          <a:lstStyle/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352800" y="6356354"/>
            <a:ext cx="2895600" cy="365125"/>
          </a:xfrm>
        </p:spPr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705600" y="6356354"/>
            <a:ext cx="2133600" cy="365125"/>
          </a:xfrm>
        </p:spPr>
        <p:txBody>
          <a:bodyPr/>
          <a:lstStyle/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2225819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1.jpe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5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4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398" y="-109183"/>
            <a:ext cx="818707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55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725" r:id="rId13"/>
  </p:sldLayoutIdLst>
  <p:transition spd="slow">
    <p:wipe dir="d"/>
  </p:transition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122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6C6BC3-6E26-480D-B65C-C72DE89A6499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8A145EC-B8E4-4527-8135-A46CF613CD40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9630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3545" y="0"/>
            <a:ext cx="9100457" cy="6879771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0" y="274638"/>
            <a:ext cx="80772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0" y="1600204"/>
            <a:ext cx="80772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20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7B281C-5159-4971-8228-52B9A72E9ED2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9/24/2025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352800" y="6356354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05600" y="6356354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3D6E5A2-EC83-451F-A719-9AC1370DD5CF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2398" y="-109183"/>
            <a:ext cx="818707" cy="70831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0250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  <p:sldLayoutId id="2147483724" r:id="rId12"/>
  </p:sldLayoutIdLst>
  <p:transition spd="slow">
    <p:wipe dir="d"/>
  </p:transition>
  <p:txStyles>
    <p:titleStyle>
      <a:lvl1pPr algn="l" defTabSz="914400" rtl="0" eaLnBrk="1" latinLnBrk="0" hangingPunct="1">
        <a:spcBef>
          <a:spcPct val="0"/>
        </a:spcBef>
        <a:buNone/>
        <a:defRPr lang="en-US" sz="4400" kern="1200" dirty="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6.png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3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2" Type="http://schemas.openxmlformats.org/officeDocument/2006/relationships/tags" Target="../tags/tag7.xml"/><Relationship Id="rId1" Type="http://schemas.openxmlformats.org/officeDocument/2006/relationships/tags" Target="../tags/tag6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4114801" y="1828800"/>
            <a:ext cx="4038599" cy="1419224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INFORMATION SECURITY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5715001" y="4419600"/>
            <a:ext cx="2836446" cy="533400"/>
          </a:xfrm>
        </p:spPr>
        <p:txBody>
          <a:bodyPr>
            <a:norm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n-lt"/>
              </a:rPr>
              <a:t>Amber Sarfraz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7457" y="1500191"/>
            <a:ext cx="1607344" cy="1419225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1957" y="304803"/>
            <a:ext cx="1607344" cy="141922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274599" y="4889212"/>
            <a:ext cx="2199449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dirty="0">
                <a:solidFill>
                  <a:srgbClr val="0070C0"/>
                </a:solidFill>
              </a:rPr>
              <a:t>AmberSarfraz@cs.uol.edu.pk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6793104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600"/>
                            </p:stCondLst>
                            <p:childTnLst>
                              <p:par>
                                <p:cTn id="9" presetID="43" presetClass="path" presetSubtype="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-0.00092 C 0.04036 -0.00092 0.40469 -0.00185 0.52695 -0.00254 C 0.64909 -0.00301 0.79466 0.00232 0.73294 -0.00509 C 0.67591 -0.03379 0.74687 0.03912 0.74687 -0.00023 " pathEditMode="relative" rAng="0" ptsTypes="AAAA">
                                      <p:cBhvr>
                                        <p:cTn id="10" dur="1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7383" y="93"/>
                                    </p:animMotion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26" presetClass="emph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8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26" presetClass="emph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500" tmFilter="0, 0; .2, .5; .8, .5; 1, 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21" dur="250" autoRev="1" fill="hold"/>
                                        <p:tgtEl>
                                          <p:spTgt spid="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2300"/>
                            </p:stCondLst>
                            <p:childTnLst>
                              <p:par>
                                <p:cTn id="2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295400" y="2971800"/>
            <a:ext cx="7543800" cy="2286000"/>
          </a:xfrm>
        </p:spPr>
        <p:txBody>
          <a:bodyPr>
            <a:normAutofit/>
          </a:bodyPr>
          <a:lstStyle/>
          <a:p>
            <a:r>
              <a:rPr lang="en-US" sz="4000" dirty="0">
                <a:solidFill>
                  <a:srgbClr val="0070C0"/>
                </a:solidFill>
              </a:rPr>
              <a:t>Course Introduction and Overview</a:t>
            </a:r>
            <a:endParaRPr lang="en-US" sz="4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48236992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2210" name="Rectangle 2"/>
          <p:cNvSpPr>
            <a:spLocks noGrp="1" noChangeArrowheads="1"/>
          </p:cNvSpPr>
          <p:nvPr>
            <p:ph type="title"/>
          </p:nvPr>
        </p:nvSpPr>
        <p:spPr>
          <a:xfrm>
            <a:off x="514350" y="152400"/>
            <a:ext cx="8382000" cy="838200"/>
          </a:xfrm>
        </p:spPr>
        <p:txBody>
          <a:bodyPr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sz="4400" dirty="0"/>
              <a:t>Introduce Yourself</a:t>
            </a:r>
          </a:p>
        </p:txBody>
      </p:sp>
      <p:sp>
        <p:nvSpPr>
          <p:cNvPr id="2052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735143"/>
            <a:ext cx="7315200" cy="3716337"/>
          </a:xfrm>
        </p:spPr>
        <p:txBody>
          <a:bodyPr>
            <a:normAutofit/>
          </a:bodyPr>
          <a:lstStyle/>
          <a:p>
            <a:pPr eaLnBrk="1" hangingPunct="1"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</a:p>
          <a:p>
            <a:pPr eaLnBrk="1" hangingPunct="1"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CGPA</a:t>
            </a:r>
          </a:p>
          <a:p>
            <a:pPr eaLnBrk="1" hangingPunct="1"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Favorite Course</a:t>
            </a:r>
          </a:p>
          <a:p>
            <a:pPr lvl="1">
              <a:buFontTx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Why?</a:t>
            </a:r>
          </a:p>
        </p:txBody>
      </p:sp>
      <p:sp>
        <p:nvSpPr>
          <p:cNvPr id="3075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6553200" y="6356356"/>
            <a:ext cx="2133600" cy="365125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fld id="{2CDD1AD5-77C4-44A2-A25A-45D5BB04BAAB}" type="slidenum">
              <a:rPr lang="en-US">
                <a:solidFill>
                  <a:prstClr val="black">
                    <a:tint val="75000"/>
                  </a:prstClr>
                </a:solidFill>
              </a:rPr>
              <a:pPr>
                <a:defRPr/>
              </a:pPr>
              <a:t>3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39569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Garamond" pitchFamily="18" charset="0"/>
              </a:rPr>
              <a:t>Teaching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b="1" dirty="0">
              <a:latin typeface="Garamond" pitchFamily="18" charset="0"/>
            </a:endParaRPr>
          </a:p>
          <a:p>
            <a:r>
              <a:rPr lang="en-US" dirty="0">
                <a:latin typeface="Garamond" pitchFamily="18" charset="0"/>
              </a:rPr>
              <a:t>Tell me and I forget. </a:t>
            </a:r>
          </a:p>
          <a:p>
            <a:r>
              <a:rPr lang="en-US" dirty="0">
                <a:latin typeface="Garamond" pitchFamily="18" charset="0"/>
              </a:rPr>
              <a:t>Teach me and I remember. </a:t>
            </a:r>
          </a:p>
          <a:p>
            <a:r>
              <a:rPr lang="en-US" dirty="0">
                <a:latin typeface="Garamond" pitchFamily="18" charset="0"/>
              </a:rPr>
              <a:t>Involve me and I learn</a:t>
            </a:r>
            <a:r>
              <a:rPr lang="en-US" b="1" dirty="0">
                <a:latin typeface="Garamond" pitchFamily="18" charset="0"/>
              </a:rPr>
              <a:t>.</a:t>
            </a:r>
          </a:p>
          <a:p>
            <a:pPr marL="0" indent="0">
              <a:buNone/>
            </a:pPr>
            <a:br>
              <a:rPr lang="en-US" b="1" dirty="0">
                <a:latin typeface="Garamond" pitchFamily="18" charset="0"/>
              </a:rPr>
            </a:br>
            <a:endParaRPr lang="en-US" b="1" dirty="0">
              <a:latin typeface="Garamond" pitchFamily="18" charset="0"/>
            </a:endParaRPr>
          </a:p>
          <a:p>
            <a:pPr lvl="1" algn="r"/>
            <a:r>
              <a:rPr lang="en-US" b="1" i="1" dirty="0">
                <a:latin typeface="Garamond" pitchFamily="18" charset="0"/>
              </a:rPr>
              <a:t>Benjamin Franklin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5140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Background testing… 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Ever wonder what that line at the bottom of the browser means?</a:t>
            </a:r>
          </a:p>
          <a:p>
            <a:r>
              <a:rPr lang="en-US" dirty="0"/>
              <a:t>What a firewall is?</a:t>
            </a:r>
          </a:p>
          <a:p>
            <a:r>
              <a:rPr lang="en-US" dirty="0"/>
              <a:t>Have you ever been authenticated?</a:t>
            </a:r>
          </a:p>
          <a:p>
            <a:r>
              <a:rPr lang="en-US" dirty="0"/>
              <a:t>Has your computer ever been hacked?</a:t>
            </a:r>
          </a:p>
          <a:p>
            <a:r>
              <a:rPr lang="en-US" dirty="0"/>
              <a:t>What is a VPN?</a:t>
            </a:r>
          </a:p>
          <a:p>
            <a:r>
              <a:rPr lang="en-US" dirty="0"/>
              <a:t>DNS compromised, heard of it?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44396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sz="1200" dirty="0"/>
          </a:p>
          <a:p>
            <a:endParaRPr lang="en-US" dirty="0"/>
          </a:p>
          <a:p>
            <a:endParaRPr lang="en-US" dirty="0"/>
          </a:p>
          <a:p>
            <a:endParaRPr lang="en-US" sz="2000" dirty="0"/>
          </a:p>
          <a:p>
            <a:r>
              <a:rPr lang="en-US" sz="2000" b="1" dirty="0"/>
              <a:t>https</a:t>
            </a:r>
            <a:r>
              <a:rPr lang="en-US" sz="2000" dirty="0"/>
              <a:t> invokes the Secure Socket Layer (SSL) communication security protocol to securely transmit your data to the server</a:t>
            </a:r>
          </a:p>
          <a:p>
            <a:r>
              <a:rPr lang="en-US" sz="2000" dirty="0"/>
              <a:t>SSL uses cryptography, which is used in Network Security</a:t>
            </a: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8700" y="1186316"/>
            <a:ext cx="6343650" cy="3995289"/>
          </a:xfrm>
          <a:prstGeom prst="rect">
            <a:avLst/>
          </a:prstGeom>
          <a:solidFill>
            <a:schemeClr val="accent1"/>
          </a:solidFill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3002" y="1300142"/>
            <a:ext cx="3160873" cy="604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14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Other uses of cryptography</a:t>
            </a:r>
          </a:p>
          <a:p>
            <a:pPr lvl="1"/>
            <a:r>
              <a:rPr lang="en-US" sz="2400" dirty="0"/>
              <a:t> ATMs</a:t>
            </a:r>
          </a:p>
          <a:p>
            <a:pPr lvl="1"/>
            <a:r>
              <a:rPr lang="en-US" sz="2400" dirty="0"/>
              <a:t> Online banking</a:t>
            </a:r>
          </a:p>
          <a:p>
            <a:pPr lvl="1"/>
            <a:r>
              <a:rPr lang="en-US" sz="2400" dirty="0"/>
              <a:t>Remote login </a:t>
            </a:r>
          </a:p>
          <a:p>
            <a:pPr lvl="1"/>
            <a:r>
              <a:rPr lang="en-US" sz="2400" dirty="0"/>
              <a:t>Digital rights management‎</a:t>
            </a:r>
          </a:p>
          <a:p>
            <a:pPr lvl="1"/>
            <a:r>
              <a:rPr lang="en-US" sz="2400" dirty="0"/>
              <a:t>E-commerce‎</a:t>
            </a:r>
          </a:p>
          <a:p>
            <a:pPr lvl="1"/>
            <a:r>
              <a:rPr lang="en-US" sz="2400" dirty="0"/>
              <a:t>Secret broadcasting</a:t>
            </a:r>
          </a:p>
          <a:p>
            <a:pPr lvl="1"/>
            <a:r>
              <a:rPr lang="en-US" sz="2400" dirty="0"/>
              <a:t>And many others….</a:t>
            </a:r>
          </a:p>
          <a:p>
            <a:pPr lvl="1"/>
            <a:r>
              <a:rPr lang="en-US" sz="2400" b="1" dirty="0"/>
              <a:t>Almost everywhere!</a:t>
            </a:r>
          </a:p>
        </p:txBody>
      </p:sp>
    </p:spTree>
    <p:extLst>
      <p:ext uri="{BB962C8B-B14F-4D97-AF65-F5344CB8AC3E}">
        <p14:creationId xmlns:p14="http://schemas.microsoft.com/office/powerpoint/2010/main" val="78300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Security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Why is security necessary?</a:t>
            </a:r>
          </a:p>
          <a:p>
            <a:pPr marL="0" indent="0">
              <a:buNone/>
            </a:pPr>
            <a:endParaRPr lang="en-US" u="sng" dirty="0"/>
          </a:p>
          <a:p>
            <a:r>
              <a:rPr lang="en-US" dirty="0"/>
              <a:t>Because people aren’t always nice</a:t>
            </a:r>
          </a:p>
          <a:p>
            <a:r>
              <a:rPr lang="en-US" dirty="0"/>
              <a:t>Because a lot of money is handled by computers</a:t>
            </a:r>
          </a:p>
          <a:p>
            <a:r>
              <a:rPr lang="en-US" dirty="0"/>
              <a:t>Because a lot of important information is handled by computers</a:t>
            </a:r>
          </a:p>
          <a:p>
            <a:r>
              <a:rPr lang="en-US" dirty="0"/>
              <a:t>Because our society is increasingly dependent on correct operation of computers</a:t>
            </a:r>
          </a:p>
        </p:txBody>
      </p:sp>
    </p:spTree>
    <p:extLst>
      <p:ext uri="{BB962C8B-B14F-4D97-AF65-F5344CB8AC3E}">
        <p14:creationId xmlns:p14="http://schemas.microsoft.com/office/powerpoint/2010/main" val="37014057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Security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How do security breaches impact organizations?</a:t>
            </a:r>
          </a:p>
          <a:p>
            <a:endParaRPr lang="en-US" dirty="0"/>
          </a:p>
          <a:p>
            <a:r>
              <a:rPr lang="en-US" dirty="0"/>
              <a:t>Effectiveness of primary operations are reduced</a:t>
            </a:r>
          </a:p>
          <a:p>
            <a:r>
              <a:rPr lang="en-US" dirty="0"/>
              <a:t>Financial loss</a:t>
            </a:r>
          </a:p>
          <a:p>
            <a:r>
              <a:rPr lang="en-US" dirty="0"/>
              <a:t>Damage to assets</a:t>
            </a:r>
          </a:p>
          <a:p>
            <a:r>
              <a:rPr lang="en-US" dirty="0"/>
              <a:t>Harm to individuals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66977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How Systems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Systems may fail for many reasons, including</a:t>
            </a:r>
          </a:p>
          <a:p>
            <a:endParaRPr lang="en-US" dirty="0"/>
          </a:p>
          <a:p>
            <a:r>
              <a:rPr lang="en-US" dirty="0"/>
              <a:t>Reliability deals with accidental failures</a:t>
            </a:r>
          </a:p>
          <a:p>
            <a:endParaRPr lang="en-US" dirty="0"/>
          </a:p>
          <a:p>
            <a:r>
              <a:rPr lang="en-US" dirty="0"/>
              <a:t>Usability deals with problems arising from operating mistakes made by users</a:t>
            </a:r>
          </a:p>
          <a:p>
            <a:endParaRPr lang="en-US" dirty="0"/>
          </a:p>
          <a:p>
            <a:r>
              <a:rPr lang="en-US" dirty="0"/>
              <a:t>Security deals with intentional failures created by intelligent parties</a:t>
            </a:r>
          </a:p>
          <a:p>
            <a:pPr lvl="1"/>
            <a:r>
              <a:rPr lang="en-US" dirty="0"/>
              <a:t>Security is about computing in the presence of an adversary</a:t>
            </a:r>
          </a:p>
          <a:p>
            <a:pPr lvl="1"/>
            <a:r>
              <a:rPr lang="en-US" dirty="0"/>
              <a:t>But security, reliability, and usability are all related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61882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Drives the Attackers?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/>
              <a:t>Adversarial motivations:</a:t>
            </a:r>
          </a:p>
          <a:p>
            <a:pPr lvl="1"/>
            <a:r>
              <a:rPr lang="en-GB" dirty="0"/>
              <a:t>Money, fame, malice, revenge, curiosity, politics, terror....</a:t>
            </a:r>
          </a:p>
          <a:p>
            <a:r>
              <a:rPr lang="en-GB" dirty="0"/>
              <a:t>Fake websites: identity theft, steal money</a:t>
            </a:r>
          </a:p>
          <a:p>
            <a:r>
              <a:rPr lang="en-GB" dirty="0"/>
              <a:t>Control the victim’s machine: send spam, capture passwords</a:t>
            </a:r>
          </a:p>
          <a:p>
            <a:r>
              <a:rPr lang="en-GB" dirty="0"/>
              <a:t>Industrial espionage and international politics</a:t>
            </a:r>
          </a:p>
          <a:p>
            <a:r>
              <a:rPr lang="en-GB" dirty="0"/>
              <a:t>Attack on the website, extort money</a:t>
            </a:r>
          </a:p>
          <a:p>
            <a:r>
              <a:rPr lang="en-GB" dirty="0"/>
              <a:t>Wreak havoc, achieve fame and glory</a:t>
            </a:r>
          </a:p>
          <a:p>
            <a:r>
              <a:rPr lang="en-GB" dirty="0"/>
              <a:t>Access copy-protected movies and videos, entitlement or pleasure</a:t>
            </a:r>
          </a:p>
        </p:txBody>
      </p:sp>
    </p:spTree>
    <p:extLst>
      <p:ext uri="{BB962C8B-B14F-4D97-AF65-F5344CB8AC3E}">
        <p14:creationId xmlns:p14="http://schemas.microsoft.com/office/powerpoint/2010/main" val="2200178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Other (Mutually-Related) Issues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 consumers actually care about security?</a:t>
            </a:r>
          </a:p>
          <a:p>
            <a:endParaRPr lang="en-US" dirty="0"/>
          </a:p>
          <a:p>
            <a:r>
              <a:rPr lang="en-US" dirty="0"/>
              <a:t>Security is expensive to implement</a:t>
            </a:r>
          </a:p>
          <a:p>
            <a:endParaRPr lang="en-US" dirty="0"/>
          </a:p>
          <a:p>
            <a:r>
              <a:rPr lang="en-US" dirty="0"/>
              <a:t>Plenty of legacy software</a:t>
            </a:r>
          </a:p>
          <a:p>
            <a:endParaRPr lang="en-US" dirty="0"/>
          </a:p>
          <a:p>
            <a:r>
              <a:rPr lang="en-US" dirty="0"/>
              <a:t>Easier to write “insecure” code</a:t>
            </a:r>
          </a:p>
          <a:p>
            <a:endParaRPr lang="en-US"/>
          </a:p>
          <a:p>
            <a:r>
              <a:rPr lang="en-US"/>
              <a:t>Some </a:t>
            </a:r>
            <a:r>
              <a:rPr lang="en-US" dirty="0"/>
              <a:t>languages (like C) are unsafe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57279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Security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u="sng" dirty="0"/>
              <a:t>Layers of security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A lock is as strong as the weakest door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0" y="2667000"/>
            <a:ext cx="192024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Application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3566160" y="3124200"/>
            <a:ext cx="246888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Network Security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3291840" y="3581400"/>
            <a:ext cx="301752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Operating System Security</a:t>
            </a:r>
          </a:p>
        </p:txBody>
      </p:sp>
      <p:sp>
        <p:nvSpPr>
          <p:cNvPr id="8" name="Rectangle 7"/>
          <p:cNvSpPr/>
          <p:nvPr/>
        </p:nvSpPr>
        <p:spPr>
          <a:xfrm>
            <a:off x="3017520" y="4038600"/>
            <a:ext cx="356616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User Security</a:t>
            </a:r>
          </a:p>
        </p:txBody>
      </p:sp>
      <p:sp>
        <p:nvSpPr>
          <p:cNvPr id="9" name="Rectangle 8"/>
          <p:cNvSpPr/>
          <p:nvPr/>
        </p:nvSpPr>
        <p:spPr>
          <a:xfrm>
            <a:off x="2686050" y="4495800"/>
            <a:ext cx="4114800" cy="457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rgbClr val="0070C0"/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Physical Security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57702" y="1752748"/>
            <a:ext cx="685693" cy="9142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7346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Security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Data Security continues to be an issue for organizations</a:t>
            </a:r>
          </a:p>
          <a:p>
            <a:endParaRPr lang="en-US" dirty="0"/>
          </a:p>
          <a:p>
            <a:r>
              <a:rPr lang="en-US" dirty="0"/>
              <a:t>Not only are we hear about the successful penetration of web sites and hacking of networks, but we also have new laws and regulations that affect the protection of information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Australian Internet privacy policy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UOL Internet policy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138328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response to these issues, more and more vendors are appearing with tools that offer some protection and claim that their product was the solution to the security problem</a:t>
            </a:r>
          </a:p>
          <a:p>
            <a:endParaRPr lang="en-US" dirty="0"/>
          </a:p>
          <a:p>
            <a:r>
              <a:rPr lang="en-US" dirty="0"/>
              <a:t>From looking at all of this information, it would appear that the big issues in security can be solved with technology</a:t>
            </a:r>
          </a:p>
          <a:p>
            <a:endParaRPr lang="en-US" dirty="0"/>
          </a:p>
          <a:p>
            <a:r>
              <a:rPr lang="en-US" dirty="0"/>
              <a:t>Unfortunately, security issues are much more complex than that</a:t>
            </a:r>
          </a:p>
        </p:txBody>
      </p:sp>
    </p:spTree>
    <p:extLst>
      <p:ext uri="{BB962C8B-B14F-4D97-AF65-F5344CB8AC3E}">
        <p14:creationId xmlns:p14="http://schemas.microsoft.com/office/powerpoint/2010/main" val="836561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Security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Lets start with the basics …</a:t>
            </a:r>
          </a:p>
          <a:p>
            <a:r>
              <a:rPr lang="en-US" dirty="0"/>
              <a:t>So what is security?</a:t>
            </a:r>
          </a:p>
          <a:p>
            <a:endParaRPr lang="en-US" dirty="0"/>
          </a:p>
          <a:p>
            <a:pPr marL="0" indent="0">
              <a:buNone/>
            </a:pPr>
            <a:r>
              <a:rPr lang="en-US" dirty="0"/>
              <a:t>Freedom from danger, safety; freedom from fear or anxiety</a:t>
            </a:r>
          </a:p>
          <a:p>
            <a:endParaRPr lang="en-US" dirty="0"/>
          </a:p>
          <a:p>
            <a:r>
              <a:rPr lang="en-US" dirty="0"/>
              <a:t>Security in computer terminology</a:t>
            </a:r>
          </a:p>
          <a:p>
            <a:pPr marL="0" indent="0">
              <a:buNone/>
            </a:pPr>
            <a:r>
              <a:rPr lang="en-US" b="1" dirty="0"/>
              <a:t>Measures adopted to prevent the unauthorized use, misuse, modification, or denial of use of knowledge, facts, data, or capabilities</a:t>
            </a:r>
          </a:p>
          <a:p>
            <a:pPr marL="0" indent="0">
              <a:buNone/>
            </a:pPr>
            <a:r>
              <a:rPr lang="en-US" dirty="0"/>
              <a:t>OR</a:t>
            </a:r>
          </a:p>
          <a:p>
            <a:pPr marL="0" indent="0">
              <a:buNone/>
            </a:pPr>
            <a:r>
              <a:rPr lang="en-US" b="1" dirty="0"/>
              <a:t>Mechanisms to prevent, detect, and recover from network attacks, or for auditing purposes</a:t>
            </a:r>
          </a:p>
        </p:txBody>
      </p:sp>
    </p:spTree>
    <p:extLst>
      <p:ext uri="{BB962C8B-B14F-4D97-AF65-F5344CB8AC3E}">
        <p14:creationId xmlns:p14="http://schemas.microsoft.com/office/powerpoint/2010/main" val="41320177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Security – First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What is a secured network?</a:t>
            </a:r>
          </a:p>
          <a:p>
            <a:endParaRPr lang="en-US" dirty="0"/>
          </a:p>
          <a:p>
            <a:r>
              <a:rPr lang="en-US" dirty="0"/>
              <a:t>A network is “secured” if it has deployed adequate measures for prevention of, detection of, and recovery from attack</a:t>
            </a:r>
          </a:p>
        </p:txBody>
      </p:sp>
    </p:spTree>
    <p:extLst>
      <p:ext uri="{BB962C8B-B14F-4D97-AF65-F5344CB8AC3E}">
        <p14:creationId xmlns:p14="http://schemas.microsoft.com/office/powerpoint/2010/main" val="2382055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Security – First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At the very bottom, security is a people’s issue</a:t>
            </a:r>
          </a:p>
          <a:p>
            <a:endParaRPr lang="en-US" dirty="0"/>
          </a:p>
          <a:p>
            <a:r>
              <a:rPr lang="en-US" dirty="0"/>
              <a:t>We can not solve the basic problem with technology, but we can manage the security problem through the dedicated application of well-thought-out security processes and procedures</a:t>
            </a:r>
          </a:p>
        </p:txBody>
      </p:sp>
    </p:spTree>
    <p:extLst>
      <p:ext uri="{BB962C8B-B14F-4D97-AF65-F5344CB8AC3E}">
        <p14:creationId xmlns:p14="http://schemas.microsoft.com/office/powerpoint/2010/main" val="2118539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Security – First Concepts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So what we have learnt</a:t>
            </a:r>
          </a:p>
          <a:p>
            <a:endParaRPr lang="en-US" dirty="0"/>
          </a:p>
          <a:p>
            <a:r>
              <a:rPr lang="en-US" dirty="0"/>
              <a:t>You could build the biggest fortress in the world and someone could just come up with a bigger battering ram</a:t>
            </a:r>
          </a:p>
          <a:p>
            <a:endParaRPr lang="en-US" dirty="0"/>
          </a:p>
          <a:p>
            <a:r>
              <a:rPr lang="en-US" dirty="0"/>
              <a:t>Security is the name given to the preventative steps you take to guard your information and your capabilities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890280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Information Security – basic principles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u="sng" dirty="0"/>
              <a:t>Security Principles To Follow</a:t>
            </a:r>
          </a:p>
          <a:p>
            <a:endParaRPr lang="en-US" sz="1100" dirty="0"/>
          </a:p>
          <a:p>
            <a:r>
              <a:rPr lang="en-US" dirty="0"/>
              <a:t>A 100% secure environment is a myth</a:t>
            </a:r>
          </a:p>
          <a:p>
            <a:r>
              <a:rPr lang="en-US" dirty="0"/>
              <a:t>The more you know about someone else, the better you can defend yourself from them</a:t>
            </a:r>
          </a:p>
          <a:p>
            <a:r>
              <a:rPr lang="en-US" dirty="0"/>
              <a:t>The more someone knows about you, the better they can exploit you</a:t>
            </a:r>
          </a:p>
          <a:p>
            <a:r>
              <a:rPr lang="en-US" dirty="0"/>
              <a:t>Security through obscurity doesn’t work</a:t>
            </a:r>
          </a:p>
          <a:p>
            <a:r>
              <a:rPr lang="en-US" dirty="0"/>
              <a:t>Never assume that all security risks are from the outside, and not the inside</a:t>
            </a:r>
          </a:p>
          <a:p>
            <a:r>
              <a:rPr lang="en-US" dirty="0"/>
              <a:t>Never assume that your users know what they are doing</a:t>
            </a:r>
          </a:p>
          <a:p>
            <a:r>
              <a:rPr lang="en-US" dirty="0"/>
              <a:t>Security is only as good as the weakest link in the chain</a:t>
            </a:r>
          </a:p>
          <a:p>
            <a:r>
              <a:rPr lang="en-US" dirty="0"/>
              <a:t>Security is a process, not an end product</a:t>
            </a:r>
          </a:p>
        </p:txBody>
      </p:sp>
    </p:spTree>
    <p:extLst>
      <p:ext uri="{BB962C8B-B14F-4D97-AF65-F5344CB8AC3E}">
        <p14:creationId xmlns:p14="http://schemas.microsoft.com/office/powerpoint/2010/main" val="6858950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Information Security Vs Data Security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>
              <a:lnSpc>
                <a:spcPct val="107000"/>
              </a:lnSpc>
              <a:spcAft>
                <a:spcPts val="800"/>
              </a:spcAft>
              <a:buSzPts val="1000"/>
              <a:tabLst>
                <a:tab pos="457200" algn="l"/>
              </a:tabLst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Information Security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Broad discipline concerned with protecting </a:t>
            </a:r>
            <a:r>
              <a:rPr lang="en-PK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all types of information</a:t>
            </a: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(digital, physical, spoken, written).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Ensures </a:t>
            </a:r>
            <a:r>
              <a:rPr lang="en-PK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Confidentiality, Integrity, and Availability (CIA triad)</a:t>
            </a: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Involves policies, processes, and controls for securing information.</a:t>
            </a: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Example: Locking physical documents, secure communication protocols, </a:t>
            </a:r>
            <a:r>
              <a:rPr lang="en-US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PK" sz="18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access restrictions.</a:t>
            </a:r>
            <a:endParaRPr lang="en-US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Security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Subset of information security focused on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data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Protects data during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storage, processing, and transmission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Involves techniques like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encryption, backup, access control, and firewalls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Encrypting databases, securing files on servers, and two-factor authentication.</a:t>
            </a:r>
          </a:p>
          <a:p>
            <a:pPr marL="342900" lvl="0" indent="-342900">
              <a:lnSpc>
                <a:spcPct val="107000"/>
              </a:lnSpc>
              <a:spcAft>
                <a:spcPts val="800"/>
              </a:spcAft>
              <a:buSzPts val="1000"/>
              <a:buFont typeface="Symbol" panose="05050102010706020507" pitchFamily="18" charset="2"/>
              <a:buChar char=""/>
              <a:tabLst>
                <a:tab pos="457200" algn="l"/>
              </a:tabLst>
            </a:pPr>
            <a:endParaRPr lang="en-PK" sz="18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US" u="sng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092194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Course Overview and Introduction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u="sng" dirty="0"/>
              <a:t>Pre-requisites</a:t>
            </a:r>
          </a:p>
          <a:p>
            <a:endParaRPr lang="en-US" dirty="0"/>
          </a:p>
          <a:p>
            <a:r>
              <a:rPr lang="en-US" dirty="0"/>
              <a:t>No (as per your SOS)</a:t>
            </a:r>
          </a:p>
          <a:p>
            <a:r>
              <a:rPr lang="en-US" dirty="0"/>
              <a:t>But I would strongly recommend this course for those who;</a:t>
            </a:r>
          </a:p>
          <a:p>
            <a:pPr lvl="1"/>
            <a:r>
              <a:rPr lang="en-US" sz="2400" dirty="0"/>
              <a:t>are familiar with basic computer networks</a:t>
            </a:r>
          </a:p>
          <a:p>
            <a:pPr lvl="1"/>
            <a:r>
              <a:rPr lang="en-US" sz="2400" dirty="0"/>
              <a:t>are preparing to investigate more details in selected topics and recent developments in network security</a:t>
            </a:r>
          </a:p>
          <a:p>
            <a:endParaRPr lang="en-US" dirty="0"/>
          </a:p>
          <a:p>
            <a:r>
              <a:rPr lang="en-US" u="sng" dirty="0"/>
              <a:t>This is a theory course</a:t>
            </a:r>
            <a:r>
              <a:rPr lang="en-US" dirty="0"/>
              <a:t>! Largely definitions and proofs, although of applied value</a:t>
            </a:r>
          </a:p>
        </p:txBody>
      </p:sp>
    </p:spTree>
    <p:extLst>
      <p:ext uri="{BB962C8B-B14F-4D97-AF65-F5344CB8AC3E}">
        <p14:creationId xmlns:p14="http://schemas.microsoft.com/office/powerpoint/2010/main" val="30331803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2362200" y="2819400"/>
            <a:ext cx="3581400" cy="762000"/>
          </a:xfrm>
        </p:spPr>
        <p:txBody>
          <a:bodyPr>
            <a:normAutofit fontScale="90000"/>
          </a:bodyPr>
          <a:lstStyle/>
          <a:p>
            <a: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Thanks </a:t>
            </a:r>
            <a:br>
              <a:rPr lang="en-US" sz="4000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</a:br>
            <a:endParaRPr lang="en-US" sz="4000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04100915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0uhWvCQomImT50qU5y4Znw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ECTIONID" val="yI2DOt6RzRcU51QxdhNew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VSHAPEID" val="HAGzTPKJNXuuOK4v20iPS7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heme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2" id="{BD857ED5-E36C-4642-A6DA-1383EB116CBC}" vid="{7E0E04E2-72B8-40EE-B876-A14E17F9684F}"/>
    </a:ext>
  </a:extLst>
</a:theme>
</file>

<file path=ppt/theme/theme4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1_Training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54</TotalTime>
  <Words>981</Words>
  <Application>Microsoft Office PowerPoint</Application>
  <PresentationFormat>On-screen Show (4:3)</PresentationFormat>
  <Paragraphs>181</Paragraphs>
  <Slides>23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23</vt:i4>
      </vt:variant>
    </vt:vector>
  </HeadingPairs>
  <TitlesOfParts>
    <vt:vector size="36" baseType="lpstr">
      <vt:lpstr>Arial</vt:lpstr>
      <vt:lpstr>Calibri</vt:lpstr>
      <vt:lpstr>Garamond</vt:lpstr>
      <vt:lpstr>Georgia</vt:lpstr>
      <vt:lpstr>Segoe UI</vt:lpstr>
      <vt:lpstr>Symbol</vt:lpstr>
      <vt:lpstr>Times New Roman</vt:lpstr>
      <vt:lpstr>Wingdings</vt:lpstr>
      <vt:lpstr>Office Theme</vt:lpstr>
      <vt:lpstr>Training</vt:lpstr>
      <vt:lpstr>Theme2</vt:lpstr>
      <vt:lpstr>1_Office Theme</vt:lpstr>
      <vt:lpstr>1_Training</vt:lpstr>
      <vt:lpstr>INFORMATION SECURITY</vt:lpstr>
      <vt:lpstr>Course Introduction and Overview</vt:lpstr>
      <vt:lpstr>Introduce Yourself</vt:lpstr>
      <vt:lpstr>Teaching Methodology</vt:lpstr>
      <vt:lpstr>Some Background testing… </vt:lpstr>
      <vt:lpstr>PowerPoint Presentation</vt:lpstr>
      <vt:lpstr>PowerPoint Presentation</vt:lpstr>
      <vt:lpstr>Data Security</vt:lpstr>
      <vt:lpstr>Data Security</vt:lpstr>
      <vt:lpstr>How Systems Fail</vt:lpstr>
      <vt:lpstr>What Drives the Attackers?</vt:lpstr>
      <vt:lpstr>Other (Mutually-Related) Issues</vt:lpstr>
      <vt:lpstr>Data Security</vt:lpstr>
      <vt:lpstr>Data Security</vt:lpstr>
      <vt:lpstr>Data Security</vt:lpstr>
      <vt:lpstr>Data Security</vt:lpstr>
      <vt:lpstr>Information Security – First Concepts</vt:lpstr>
      <vt:lpstr>Information Security – First Concepts</vt:lpstr>
      <vt:lpstr>Information Security – First Concepts</vt:lpstr>
      <vt:lpstr>Information Security – basic principles</vt:lpstr>
      <vt:lpstr>Information Security Vs Data Security</vt:lpstr>
      <vt:lpstr>Course Overview and Introduction</vt:lpstr>
      <vt:lpstr>Thanks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CSC332 – Data Security  and Encryption</dc:title>
  <dc:creator>Dr. Ahmad</dc:creator>
  <cp:lastModifiedBy>Amber Sarfraz</cp:lastModifiedBy>
  <cp:revision>43</cp:revision>
  <dcterms:created xsi:type="dcterms:W3CDTF">2006-08-16T00:00:00Z</dcterms:created>
  <dcterms:modified xsi:type="dcterms:W3CDTF">2025-09-24T08:57:57Z</dcterms:modified>
</cp:coreProperties>
</file>